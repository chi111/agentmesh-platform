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开场：pinme-mesh 不是另一个聊天机器人页面，而是面向复杂任务的 Agent 协作、交付证据与贡献治理平台。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核心观点：平台关注的是跨 Agent 的任务完成率与证据闭环，而不是单次对话体验。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演示时按这 10 步走：重点强调邀请门禁、CID 版本证据和验收/争议互斥。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架构亮点：前端静态托管和后端控制面分离；Worker 只负责验证和编排，不持有用户或运营私钥。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市场页的价值在于“数据从哪里来”。没有 Trial 或健康检查时，界面如实显示，不用虚构漂亮指标。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这是演示亮点页。强调像素风只用于识别元素，身体是低多边形潮玩体态，并由真实状态驱动动作。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CID 不是文件 SHA-256 的替代品；两者都要保存。Domain 只是可读入口，验收和纠纷以 CID 与 Manifest 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四套账严格分离：任务资金、开发者收益、PM 奖励、治理 Power。ENS 只改善身份展示，不参与授权判断。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收尾：打开演示域名。若时间有限，只演示首页、Agent 市场、3D 指挥舱与 PinMe 版本证据四个点。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esh-pinme.pinme.dev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mesh-pinme.pinme.dev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498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98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98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98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98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498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498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498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498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498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98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498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98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98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498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6245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6245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6245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6245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6245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6245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6245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6245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6245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6245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6245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6245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6245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6245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6245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6245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6245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6245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6245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09928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09928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09928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09928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09928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09928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09928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9928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09928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09928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09928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09928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709928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09928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09928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09928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09928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09928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09928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5740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5740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5740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05740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5740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5740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5740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5740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5740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05740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5740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05740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5740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5740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5740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5740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05740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05740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0487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40487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0487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0487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40487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40487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0487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40487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0487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0487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40487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0487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0487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40487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0487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40487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40487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40487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0487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75234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5234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234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5234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5234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5234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5234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234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75234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234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5234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5234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234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5234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5234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5234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5234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5234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5234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9981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9981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09981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9981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9981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09981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09981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9981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09981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09981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09981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09981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09981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09981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09981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09981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09981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09981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09981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47288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447288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447288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447288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447288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447288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47288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447288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447288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447288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447288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447288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447288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47288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447288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447288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447288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447288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47288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79476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79476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79476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9476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79476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79476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79476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79476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79476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9476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79476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79476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79476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79476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79476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79476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79476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79476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79476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14223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14223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14223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14223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14223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14223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14223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14223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14223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14223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14223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4223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14223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14223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14223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14223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14223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14223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14223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48970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48970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48970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48970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48970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48970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48970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48970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48970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48970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48970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48970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48970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48970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48970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48970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48970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48970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48970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83717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3717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83717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83717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83717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3717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83717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83717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83717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83717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83717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83717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83717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83717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83717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83717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83717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83717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83717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184648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184648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184648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184648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184648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184648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184648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184648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184648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184648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184648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184648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184648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184648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184648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184648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184648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184648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184648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53212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53212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53212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53212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553212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53212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53212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53212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53212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53212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53212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53212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53212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53212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53212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53212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53212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3212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53212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87959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87959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87959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7959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87959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87959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7959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87959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87959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87959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87959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87959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87959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87959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87959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587959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87959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87959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87959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22706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22706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22706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22706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22706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22706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22706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22706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22706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22706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22706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22706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22706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22706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22706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22706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22706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22706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22706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57453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57453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57453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57453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57453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57453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57453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57453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7453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7453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7453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7453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7453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7453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57453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57453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57453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57453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57453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922008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922008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922008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922008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922008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922008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922008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922008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922008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922008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922008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922008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922008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922008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922008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22008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922008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6922008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922008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26948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26948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26948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26948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26948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26948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26948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26948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26948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26948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26948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26948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26948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726948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26948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26948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26948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26948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6948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61695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1695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61695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61695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61695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61695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61695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61695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761695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61695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61695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61695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761695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61695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61695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61695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61695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61695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61695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96442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96442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796442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796442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796442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796442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96442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96442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796442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796442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796442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796442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796442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796442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796442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796442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796442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96442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796442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31189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31189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31189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31189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31189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31189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31189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31189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31189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31189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31189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31189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31189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831189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31189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31189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31189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31189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31189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8659368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659368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659368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659368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659368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659368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659368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659368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659368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659368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659368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659368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659368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659368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659368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659368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659368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659368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659368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00684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00684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00684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900684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00684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900684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00684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00684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00684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00684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900684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900684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900684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900684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900684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900684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900684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900684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900684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935431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935431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935431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35431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35431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35431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35431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35431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35431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35431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35431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35431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35431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935431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35431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35431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935431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935431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935431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970178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70178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70178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70178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970178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970178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70178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970178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970178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970178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970178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970178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970178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970178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970178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70178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70178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970178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970178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004925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004925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004925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004925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004925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004925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04925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04925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004925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004925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004925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004925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004925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004925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004925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004925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004925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004925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004925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0396728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0396728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0396728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0396728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0396728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0396728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10396728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0396728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10396728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0396728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0396728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0396728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0396728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0396728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0396728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0396728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0396728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0396728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0396728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0744200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0744200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0744200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0744200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0744200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0744200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0744200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0744200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0744200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0744200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0744200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0744200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0744200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0744200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0744200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10744200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10744200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0744200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0744200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11091672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1091672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1091672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1091672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1091672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1091672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1091672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1091672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1091672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1091672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1091672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11091672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11091672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11091672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11091672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1091672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1091672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1091672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1091672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1439144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1439144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1439144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1439144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1439144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1439144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1439144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1439144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1439144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1439144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1439144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1439144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1439144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11439144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439144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1439144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439144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1439144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1439144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1786616" y="27432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11786616" y="62179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11786616" y="96926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11786616" y="131673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11786616" y="166420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11786616" y="201168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11786616" y="235915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11786616" y="270662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1786616" y="305409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1786616" y="340156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1786616" y="374904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1786616" y="409651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1786616" y="444398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1786616" y="479145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1786616" y="5138928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1786616" y="5486400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1786616" y="5833872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1786616" y="6181344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1786616" y="6528816"/>
            <a:ext cx="16459" cy="16459"/>
          </a:xfrm>
          <a:prstGeom prst="ellipse">
            <a:avLst/>
          </a:prstGeom>
          <a:solidFill>
            <a:srgbClr val="08AAC4">
              <a:alpha val="13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9326880" y="-1371600"/>
            <a:ext cx="4389120" cy="4389120"/>
          </a:xfrm>
          <a:prstGeom prst="ellipse">
            <a:avLst/>
          </a:prstGeom>
          <a:solidFill>
            <a:srgbClr val="08AAC4">
              <a:alpha val="17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C4F35A">
              <a:alpha val="11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658368" y="53035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172129"/>
          </a:solidFill>
          <a:ln w="8890">
            <a:solidFill>
              <a:srgbClr val="31505A"/>
            </a:solidFill>
            <a:prstDash val="solid"/>
          </a:ln>
        </p:spPr>
      </p:sp>
      <p:sp>
        <p:nvSpPr>
          <p:cNvPr id="651" name="Text 649"/>
          <p:cNvSpPr/>
          <p:nvPr/>
        </p:nvSpPr>
        <p:spPr>
          <a:xfrm>
            <a:off x="722376" y="580644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NETWORK</a:t>
            </a:r>
            <a:endParaRPr lang="en-US" sz="700" dirty="0"/>
          </a:p>
        </p:txBody>
      </p:sp>
      <p:sp>
        <p:nvSpPr>
          <p:cNvPr id="652" name="Shape 650"/>
          <p:cNvSpPr/>
          <p:nvPr/>
        </p:nvSpPr>
        <p:spPr>
          <a:xfrm>
            <a:off x="2926080" y="530352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223126"/>
          </a:solidFill>
          <a:ln w="8890">
            <a:solidFill>
              <a:srgbClr val="466020"/>
            </a:solidFill>
            <a:prstDash val="solid"/>
          </a:ln>
        </p:spPr>
      </p:sp>
      <p:sp>
        <p:nvSpPr>
          <p:cNvPr id="653" name="Text 651"/>
          <p:cNvSpPr/>
          <p:nvPr/>
        </p:nvSpPr>
        <p:spPr>
          <a:xfrm>
            <a:off x="2990088" y="580644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· POWER · IPFS</a:t>
            </a:r>
            <a:endParaRPr lang="en-US" sz="700" dirty="0"/>
          </a:p>
        </p:txBody>
      </p:sp>
      <p:sp>
        <p:nvSpPr>
          <p:cNvPr id="654" name="Text 652"/>
          <p:cNvSpPr/>
          <p:nvPr/>
        </p:nvSpPr>
        <p:spPr>
          <a:xfrm>
            <a:off x="658368" y="1152144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pinme-mesh</a:t>
            </a:r>
            <a:endParaRPr lang="en-US" sz="3400" dirty="0"/>
          </a:p>
        </p:txBody>
      </p:sp>
      <p:sp>
        <p:nvSpPr>
          <p:cNvPr id="655" name="Text 653"/>
          <p:cNvSpPr/>
          <p:nvPr/>
        </p:nvSpPr>
        <p:spPr>
          <a:xfrm>
            <a:off x="658368" y="1865376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把复杂任务变成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可验证的 Agent 协作网络</a:t>
            </a:r>
            <a:endParaRPr lang="en-US" sz="2800" dirty="0"/>
          </a:p>
        </p:txBody>
      </p:sp>
      <p:sp>
        <p:nvSpPr>
          <p:cNvPr id="656" name="Text 654"/>
          <p:cNvSpPr/>
          <p:nvPr/>
        </p:nvSpPr>
        <p:spPr>
          <a:xfrm>
            <a:off x="676656" y="3538728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B9C3C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 DAG 编排、Agent Trial、可信执行，到 PinMe/IPFS 版本证据、测试网结算和 PM 贡献治理。</a:t>
            </a:r>
            <a:endParaRPr lang="en-US" sz="1230" dirty="0"/>
          </a:p>
        </p:txBody>
      </p:sp>
      <p:sp>
        <p:nvSpPr>
          <p:cNvPr id="657" name="Shape 655"/>
          <p:cNvSpPr/>
          <p:nvPr/>
        </p:nvSpPr>
        <p:spPr>
          <a:xfrm>
            <a:off x="5230368" y="768096"/>
            <a:ext cx="6309360" cy="3941064"/>
          </a:xfrm>
          <a:prstGeom prst="roundRect">
            <a:avLst>
              <a:gd name="adj" fmla="val 2784"/>
            </a:avLst>
          </a:prstGeom>
          <a:solidFill>
            <a:srgbClr val="172129"/>
          </a:solidFill>
          <a:ln w="12700">
            <a:solidFill>
              <a:srgbClr val="3A4B52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24000"/>
              </a:srgbClr>
            </a:outerShdw>
          </a:effectLst>
        </p:spPr>
      </p:sp>
      <p:pic>
        <p:nvPicPr>
          <p:cNvPr id="658" name="Image 0" descr="mesh-pinme 已部署首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841248"/>
            <a:ext cx="6163056" cy="3849624"/>
          </a:xfrm>
          <a:prstGeom prst="rect">
            <a:avLst/>
          </a:prstGeom>
        </p:spPr>
      </p:pic>
      <p:sp>
        <p:nvSpPr>
          <p:cNvPr id="659" name="Shape 656"/>
          <p:cNvSpPr/>
          <p:nvPr/>
        </p:nvSpPr>
        <p:spPr>
          <a:xfrm>
            <a:off x="658368" y="4773168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172129"/>
          </a:solidFill>
          <a:ln w="12700">
            <a:solidFill>
              <a:srgbClr val="2C3B42"/>
            </a:solidFill>
            <a:prstDash val="solid"/>
          </a:ln>
        </p:spPr>
      </p:sp>
      <p:sp>
        <p:nvSpPr>
          <p:cNvPr id="660" name="Text 657"/>
          <p:cNvSpPr/>
          <p:nvPr/>
        </p:nvSpPr>
        <p:spPr>
          <a:xfrm>
            <a:off x="877824" y="50109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661" name="Text 658">
            <a:hlinkClick r:id="rId2" tooltip=""/>
          </p:cNvPr>
          <p:cNvSpPr/>
          <p:nvPr/>
        </p:nvSpPr>
        <p:spPr>
          <a:xfrm>
            <a:off x="877824" y="5321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mesh-pinme.pinme.dev</a:t>
            </a:r>
            <a:endParaRPr lang="en-US" sz="920" dirty="0"/>
          </a:p>
        </p:txBody>
      </p:sp>
      <p:sp>
        <p:nvSpPr>
          <p:cNvPr id="662" name="Shape 659"/>
          <p:cNvSpPr/>
          <p:nvPr/>
        </p:nvSpPr>
        <p:spPr>
          <a:xfrm>
            <a:off x="3611880" y="4773168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172129"/>
          </a:solidFill>
          <a:ln w="12700">
            <a:solidFill>
              <a:srgbClr val="2C3B42"/>
            </a:solidFill>
            <a:prstDash val="solid"/>
          </a:ln>
        </p:spPr>
      </p:sp>
      <p:sp>
        <p:nvSpPr>
          <p:cNvPr id="663" name="Text 660"/>
          <p:cNvSpPr/>
          <p:nvPr/>
        </p:nvSpPr>
        <p:spPr>
          <a:xfrm>
            <a:off x="3840480" y="5010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CID</a:t>
            </a:r>
            <a:endParaRPr lang="en-US" sz="800" dirty="0"/>
          </a:p>
        </p:txBody>
      </p:sp>
      <p:sp>
        <p:nvSpPr>
          <p:cNvPr id="664" name="Text 661"/>
          <p:cNvSpPr/>
          <p:nvPr/>
        </p:nvSpPr>
        <p:spPr>
          <a:xfrm>
            <a:off x="3840480" y="5321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bafybeih…kuiy5u</a:t>
            </a:r>
            <a:endParaRPr lang="en-US" sz="920" dirty="0"/>
          </a:p>
        </p:txBody>
      </p:sp>
      <p:sp>
        <p:nvSpPr>
          <p:cNvPr id="665" name="Text 662"/>
          <p:cNvSpPr/>
          <p:nvPr/>
        </p:nvSpPr>
        <p:spPr>
          <a:xfrm>
            <a:off x="7315200" y="5138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产品演示 / 项目亮点 / 技术架构</a:t>
            </a:r>
            <a:endParaRPr lang="en-US" sz="1450" dirty="0"/>
          </a:p>
        </p:txBody>
      </p:sp>
      <p:sp>
        <p:nvSpPr>
          <p:cNvPr id="666" name="Text 663"/>
          <p:cNvSpPr/>
          <p:nvPr/>
        </p:nvSpPr>
        <p:spPr>
          <a:xfrm>
            <a:off x="7315200" y="5596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spc="150" kern="0" dirty="0">
                <a:solidFill>
                  <a:srgbClr val="879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DEMO · FRONTEND ON IPFS</a:t>
            </a:r>
            <a:endParaRPr lang="en-US" sz="720" dirty="0"/>
          </a:p>
        </p:txBody>
      </p:sp>
      <p:sp>
        <p:nvSpPr>
          <p:cNvPr id="667" name="Text 664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9AA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668" name="Text 665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PRODUCT THESIS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它解决的不是“聊天”，而是“把工作真正完成”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将任务、能力、证据、资金和贡献放进同一条可审计链路。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1042416" cy="1042416"/>
          </a:xfrm>
          <a:prstGeom prst="ellipse">
            <a:avLst/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002536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58368" y="22768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任务方定义结果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19656" y="2340864"/>
            <a:ext cx="841248" cy="0"/>
          </a:xfrm>
          <a:prstGeom prst="line">
            <a:avLst/>
          </a:prstGeom>
          <a:noFill/>
          <a:ln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1042416" cy="1042416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002536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0" y="22768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编排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DAG 与人工 Gate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87368" y="2340864"/>
            <a:ext cx="841248" cy="0"/>
          </a:xfrm>
          <a:prstGeom prst="line">
            <a:avLst/>
          </a:prstGeom>
          <a:noFill/>
          <a:ln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93792" y="1828800"/>
            <a:ext cx="1042416" cy="1042416"/>
          </a:xfrm>
          <a:prstGeom prst="ellipse">
            <a:avLst/>
          </a:prstGeom>
          <a:solidFill>
            <a:srgbClr val="172129"/>
          </a:solidFill>
          <a:ln w="12700">
            <a:solidFill>
              <a:srgbClr val="172129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93792" y="2002536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193792" y="22768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1184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 Endpoint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55080" y="2340864"/>
            <a:ext cx="841248" cy="0"/>
          </a:xfrm>
          <a:prstGeom prst="line">
            <a:avLst/>
          </a:prstGeom>
          <a:noFill/>
          <a:ln w="19050">
            <a:solidFill>
              <a:srgbClr val="C4F35A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61504" y="1828800"/>
            <a:ext cx="1042416" cy="1042416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2002536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61504" y="22768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68896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CID + Manifest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622792" y="2340864"/>
            <a:ext cx="841248" cy="0"/>
          </a:xfrm>
          <a:prstGeom prst="line">
            <a:avLst/>
          </a:prstGeom>
          <a:noFill/>
          <a:ln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29216" y="1828800"/>
            <a:ext cx="1042416" cy="1042416"/>
          </a:xfrm>
          <a:prstGeom prst="ellipse">
            <a:avLst/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29216" y="2002536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729216" y="22768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36608" y="302666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Escrow + PM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" y="3776472"/>
            <a:ext cx="34930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E6D6D6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9536" y="39776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0645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9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408176" y="39867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传统 Agent 产品的断点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448970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能力描述与真实可用性脱节；执行结果只有文本，没有版本证据；支付、争议和声誉各自为政。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4352544" y="3776472"/>
            <a:ext cx="34930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CDE6E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53712" y="39776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7F8FB"/>
          </a:solidFill>
          <a:ln w="12700">
            <a:solidFill>
              <a:srgbClr val="E7F8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40645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5102352" y="39867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pinme-mesh 的闭环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448970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先试炼再入场，按 DAG 派发；交付以不可变 CID 形成版本链；验收、冻结和分账服从同一状态机。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8046720" y="3776472"/>
            <a:ext cx="349300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DE8B9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47888" y="39776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1FAD8"/>
          </a:solidFill>
          <a:ln w="12700">
            <a:solidFill>
              <a:srgbClr val="F1FA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7888" y="40645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8796528" y="39867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长期差异化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66176" y="448970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把一次任务沉淀为可复核履历与贡献数据，再通过 PM 周期奖励和 Power 治理形成网络效应。</a:t>
            </a:r>
            <a:endParaRPr lang="en-US" sz="1010" dirty="0"/>
          </a:p>
        </p:txBody>
      </p:sp>
      <p:sp>
        <p:nvSpPr>
          <p:cNvPr id="44" name="Text 42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7C8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END-TO-END LOOP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一条从目标到贡献的完整链路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个关键节点共用任务、托管、证据和审计状态。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4F7F2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11096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025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30" dirty="0"/>
          </a:p>
        </p:txBody>
      </p:sp>
      <p:sp>
        <p:nvSpPr>
          <p:cNvPr id="8" name="Text 6"/>
          <p:cNvSpPr/>
          <p:nvPr/>
        </p:nvSpPr>
        <p:spPr>
          <a:xfrm>
            <a:off x="1252728" y="19110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发布任务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822960" y="2386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预算与验收标准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596896" y="2295144"/>
            <a:ext cx="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1737360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4F7F2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911096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0025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3520440" y="19110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DAG 编排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3090672" y="2386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AI 草稿或空白画布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864608" y="2295144"/>
            <a:ext cx="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3792" y="1737360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4F7F2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8384" y="1911096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20025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30" dirty="0"/>
          </a:p>
        </p:txBody>
      </p:sp>
      <p:sp>
        <p:nvSpPr>
          <p:cNvPr id="20" name="Text 18"/>
          <p:cNvSpPr/>
          <p:nvPr/>
        </p:nvSpPr>
        <p:spPr>
          <a:xfrm>
            <a:off x="5788152" y="19110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 Agent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5358384" y="2386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仅限已激活能力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132320" y="2295144"/>
            <a:ext cx="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61504" y="1737360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4F7F2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1911096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6096" y="20025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8055864" y="19110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邀请接单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626096" y="2386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第三方所有者确认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400032" y="2295144"/>
            <a:ext cx="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29216" y="1737360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4F7F2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93808" y="1911096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93808" y="200253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10323576" y="191109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资金托管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9893808" y="238658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CREDIT / mUSDC / sETH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729216" y="3877056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8FAF8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4050792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10323576" y="4050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依赖派发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9893808" y="45262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并行、Join 与 Gate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9683496" y="4434840"/>
            <a:ext cx="-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61504" y="3877056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8FAF8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6096" y="4050792"/>
            <a:ext cx="329184" cy="329184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6096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8055864" y="4050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PinMe 交付</a:t>
            </a:r>
            <a:endParaRPr lang="en-US" sz="1180" dirty="0"/>
          </a:p>
        </p:txBody>
      </p:sp>
      <p:sp>
        <p:nvSpPr>
          <p:cNvPr id="44" name="Text 42"/>
          <p:cNvSpPr/>
          <p:nvPr/>
        </p:nvSpPr>
        <p:spPr>
          <a:xfrm>
            <a:off x="7626096" y="45262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上传目录获得根 CID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415784" y="4434840"/>
            <a:ext cx="-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193792" y="3877056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8FAF8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58384" y="4050792"/>
            <a:ext cx="329184" cy="329184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8384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30" dirty="0"/>
          </a:p>
        </p:txBody>
      </p:sp>
      <p:sp>
        <p:nvSpPr>
          <p:cNvPr id="49" name="Text 47"/>
          <p:cNvSpPr/>
          <p:nvPr/>
        </p:nvSpPr>
        <p:spPr>
          <a:xfrm>
            <a:off x="5788152" y="4050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验收核对</a:t>
            </a:r>
            <a:endParaRPr lang="en-US" sz="1180" dirty="0"/>
          </a:p>
        </p:txBody>
      </p:sp>
      <p:sp>
        <p:nvSpPr>
          <p:cNvPr id="50" name="Text 48"/>
          <p:cNvSpPr/>
          <p:nvPr/>
        </p:nvSpPr>
        <p:spPr>
          <a:xfrm>
            <a:off x="5358384" y="45262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版本、文件 diff、attempt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148072" y="4434840"/>
            <a:ext cx="-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926080" y="3877056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8FAF8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90672" y="4050792"/>
            <a:ext cx="329184" cy="329184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90672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30" dirty="0"/>
          </a:p>
        </p:txBody>
      </p:sp>
      <p:sp>
        <p:nvSpPr>
          <p:cNvPr id="55" name="Text 53"/>
          <p:cNvSpPr/>
          <p:nvPr/>
        </p:nvSpPr>
        <p:spPr>
          <a:xfrm>
            <a:off x="3520440" y="4050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结算/争议</a:t>
            </a:r>
            <a:endParaRPr lang="en-US" sz="1180" dirty="0"/>
          </a:p>
        </p:txBody>
      </p:sp>
      <p:sp>
        <p:nvSpPr>
          <p:cNvPr id="56" name="Text 54"/>
          <p:cNvSpPr/>
          <p:nvPr/>
        </p:nvSpPr>
        <p:spPr>
          <a:xfrm>
            <a:off x="3090672" y="45262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释放或冻结二选一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2880360" y="4434840"/>
            <a:ext cx="-256032" cy="0"/>
          </a:xfrm>
          <a:prstGeom prst="line">
            <a:avLst/>
          </a:prstGeom>
          <a:noFill/>
          <a:ln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58368" y="3877056"/>
            <a:ext cx="1901952" cy="1115568"/>
          </a:xfrm>
          <a:prstGeom prst="roundRect">
            <a:avLst>
              <a:gd name="adj" fmla="val 5738"/>
            </a:avLst>
          </a:prstGeom>
          <a:solidFill>
            <a:srgbClr val="F8FAF8"/>
          </a:solidFill>
          <a:ln w="10160">
            <a:solidFill>
              <a:srgbClr val="D6DE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" y="4050792"/>
            <a:ext cx="329184" cy="329184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" y="41422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30" dirty="0"/>
          </a:p>
        </p:txBody>
      </p:sp>
      <p:sp>
        <p:nvSpPr>
          <p:cNvPr id="61" name="Text 59"/>
          <p:cNvSpPr/>
          <p:nvPr/>
        </p:nvSpPr>
        <p:spPr>
          <a:xfrm>
            <a:off x="1252728" y="4050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贡献沉淀</a:t>
            </a:r>
            <a:endParaRPr lang="en-US" sz="1180" dirty="0"/>
          </a:p>
        </p:txBody>
      </p:sp>
      <p:sp>
        <p:nvSpPr>
          <p:cNvPr id="62" name="Text 60"/>
          <p:cNvSpPr/>
          <p:nvPr/>
        </p:nvSpPr>
        <p:spPr>
          <a:xfrm>
            <a:off x="822960" y="45262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履约信誉、PM 与 Power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10844784" y="2852928"/>
            <a:ext cx="0" cy="1024128"/>
          </a:xfrm>
          <a:prstGeom prst="line">
            <a:avLst/>
          </a:prstGeom>
          <a:noFill/>
          <a:ln w="19050">
            <a:solidFill>
              <a:srgbClr val="08AAC4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481328" y="5532120"/>
            <a:ext cx="9235440" cy="603504"/>
          </a:xfrm>
          <a:prstGeom prst="roundRect">
            <a:avLst>
              <a:gd name="adj" fmla="val 9091"/>
            </a:avLst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64792" y="57424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1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STATE MACHINE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3547872" y="5696712"/>
            <a:ext cx="6720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幂等启动 · 单调回调 · 唯一争议 · 一次结算 · 追加式审计</a:t>
            </a:r>
            <a:endParaRPr lang="en-US" sz="1020" dirty="0"/>
          </a:p>
        </p:txBody>
      </p:sp>
      <p:sp>
        <p:nvSpPr>
          <p:cNvPr id="67" name="Text 65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7C8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68" name="Text 66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498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98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98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98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98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498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498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498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498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498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98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498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98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98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498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6245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6245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6245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6245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6245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6245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6245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6245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6245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6245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6245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6245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6245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6245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6245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6245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6245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6245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6245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0992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0992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0992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0992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0992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0992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0992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992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0992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0992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0992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0992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70992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0992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0992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0992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0992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0992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0992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5740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5740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5740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05740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5740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5740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5740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5740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5740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05740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5740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05740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5740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5740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5740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5740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05740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05740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0487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40487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0487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0487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40487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40487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0487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40487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0487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0487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40487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0487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0487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40487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0487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40487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40487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40487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0487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75234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5234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234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5234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5234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5234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5234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234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75234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234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5234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5234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234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5234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5234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5234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5234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5234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5234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9981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9981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09981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9981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9981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09981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09981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9981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09981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09981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09981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09981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09981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09981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09981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09981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09981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09981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09981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4728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44728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44728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44728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44728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44728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4728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44728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44728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44728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44728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44728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44728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4728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44728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44728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44728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44728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4728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79476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79476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79476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9476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79476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79476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79476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79476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79476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9476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79476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79476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79476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79476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79476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79476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79476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79476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79476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14223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14223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14223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14223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14223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14223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14223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14223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14223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14223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14223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4223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14223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14223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14223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14223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14223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14223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14223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48970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48970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48970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48970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48970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48970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48970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48970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48970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48970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48970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48970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48970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48970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48970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48970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48970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48970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48970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83717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3717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83717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83717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83717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3717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83717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83717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83717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83717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83717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83717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83717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83717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83717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83717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83717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83717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83717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18464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18464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18464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18464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18464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18464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18464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18464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18464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18464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18464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18464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18464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18464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18464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18464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18464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18464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18464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53212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53212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53212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53212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553212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53212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53212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53212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53212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53212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53212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53212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53212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53212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53212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53212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53212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3212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53212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87959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87959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87959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7959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87959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87959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7959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87959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87959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87959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87959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87959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87959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87959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87959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587959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87959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87959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87959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22706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22706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22706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22706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22706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22706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22706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22706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22706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22706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22706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22706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22706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22706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22706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22706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22706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22706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22706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57453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57453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57453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57453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57453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57453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57453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57453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7453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7453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7453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7453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7453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7453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57453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57453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57453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57453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57453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92200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92200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92200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92200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92200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92200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92200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92200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92200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92200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92200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92200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92200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92200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92200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2200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92200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692200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92200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26948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26948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26948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26948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26948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26948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26948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26948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26948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26948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26948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26948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26948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726948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26948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26948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26948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26948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6948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61695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1695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61695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61695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61695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61695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61695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61695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761695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61695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61695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61695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761695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61695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61695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61695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61695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61695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61695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96442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96442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796442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796442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796442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796442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96442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96442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796442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796442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796442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796442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796442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796442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796442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796442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796442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96442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796442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31189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31189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31189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31189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31189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31189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31189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31189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31189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31189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31189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31189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31189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831189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31189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31189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31189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31189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31189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865936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65936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65936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65936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65936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65936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65936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65936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65936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65936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65936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65936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65936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65936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65936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65936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65936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65936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65936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00684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00684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00684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900684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00684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900684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00684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00684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00684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00684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900684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900684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900684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900684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900684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900684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900684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900684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900684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935431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935431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935431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35431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35431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35431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35431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35431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35431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35431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35431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35431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35431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935431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35431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35431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935431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935431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935431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970178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70178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70178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70178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970178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970178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70178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970178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970178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970178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970178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970178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970178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970178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970178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70178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70178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970178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970178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004925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004925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004925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004925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004925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004925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04925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04925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004925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004925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004925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004925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004925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004925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004925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004925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004925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004925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004925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039672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039672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039672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039672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039672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039672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1039672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039672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1039672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039672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039672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039672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039672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039672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039672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039672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039672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039672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039672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074420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074420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074420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074420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074420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074420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074420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074420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074420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074420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074420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074420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074420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074420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074420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1074420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1074420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074420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074420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1109167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109167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109167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109167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109167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109167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109167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109167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109167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109167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109167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1109167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1109167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1109167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1109167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109167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109167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109167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109167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143914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143914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143914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143914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143914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143914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143914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143914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143914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143914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143914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143914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143914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1143914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43914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143914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43914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143914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143914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178661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1178661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1178661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1178661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1178661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1178661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1178661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1178661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178661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178661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178661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178661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178661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178661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178661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178661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178661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178661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178661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ARCHITECTURE</a:t>
            </a:r>
            <a:endParaRPr lang="en-US" sz="750" dirty="0"/>
          </a:p>
        </p:txBody>
      </p:sp>
      <p:sp>
        <p:nvSpPr>
          <p:cNvPr id="649" name="Text 647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前端在 IPFS，控制面在 Worker，信任锚分布在 D1 与链上</a:t>
            </a:r>
            <a:endParaRPr lang="en-US" sz="2700" dirty="0"/>
          </a:p>
        </p:txBody>
      </p:sp>
      <p:sp>
        <p:nvSpPr>
          <p:cNvPr id="650" name="Text 648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浏览器不持有 PinMe AppKey、运营私钥或 Agent 私有凭据。</a:t>
            </a:r>
            <a:endParaRPr lang="en-US" sz="1050" dirty="0"/>
          </a:p>
        </p:txBody>
      </p:sp>
      <p:sp>
        <p:nvSpPr>
          <p:cNvPr id="651" name="Shape 649"/>
          <p:cNvSpPr/>
          <p:nvPr/>
        </p:nvSpPr>
        <p:spPr>
          <a:xfrm>
            <a:off x="713232" y="1664208"/>
            <a:ext cx="7543800" cy="859536"/>
          </a:xfrm>
          <a:prstGeom prst="roundRect">
            <a:avLst>
              <a:gd name="adj" fmla="val 7447"/>
            </a:avLst>
          </a:prstGeom>
          <a:solidFill>
            <a:srgbClr val="172129"/>
          </a:solidFill>
          <a:ln w="10160">
            <a:solidFill>
              <a:srgbClr val="2E444C"/>
            </a:solidFill>
            <a:prstDash val="solid"/>
          </a:ln>
        </p:spPr>
      </p:sp>
      <p:sp>
        <p:nvSpPr>
          <p:cNvPr id="652" name="Text 650"/>
          <p:cNvSpPr/>
          <p:nvPr/>
        </p:nvSpPr>
        <p:spPr>
          <a:xfrm>
            <a:off x="941832" y="18470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4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670" dirty="0"/>
          </a:p>
        </p:txBody>
      </p:sp>
      <p:sp>
        <p:nvSpPr>
          <p:cNvPr id="653" name="Text 651"/>
          <p:cNvSpPr/>
          <p:nvPr/>
        </p:nvSpPr>
        <p:spPr>
          <a:xfrm>
            <a:off x="2139696" y="18013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React + Vite + Hash Router</a:t>
            </a:r>
            <a:endParaRPr lang="en-US" sz="1220" dirty="0"/>
          </a:p>
        </p:txBody>
      </p:sp>
      <p:sp>
        <p:nvSpPr>
          <p:cNvPr id="654" name="Text 652"/>
          <p:cNvSpPr/>
          <p:nvPr/>
        </p:nvSpPr>
        <p:spPr>
          <a:xfrm>
            <a:off x="4718304" y="18379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任务工作台 · Agent 市场 · 3D 数字孪生 · 验收/仲裁 · PM 中心</a:t>
            </a:r>
            <a:endParaRPr lang="en-US" sz="850" dirty="0"/>
          </a:p>
        </p:txBody>
      </p:sp>
      <p:sp>
        <p:nvSpPr>
          <p:cNvPr id="655" name="Shape 653"/>
          <p:cNvSpPr/>
          <p:nvPr/>
        </p:nvSpPr>
        <p:spPr>
          <a:xfrm>
            <a:off x="4480560" y="2532888"/>
            <a:ext cx="0" cy="228600"/>
          </a:xfrm>
          <a:prstGeom prst="line">
            <a:avLst/>
          </a:prstGeom>
          <a:noFill/>
          <a:ln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56" name="Shape 654"/>
          <p:cNvSpPr/>
          <p:nvPr/>
        </p:nvSpPr>
        <p:spPr>
          <a:xfrm>
            <a:off x="713232" y="2761488"/>
            <a:ext cx="7543800" cy="859536"/>
          </a:xfrm>
          <a:prstGeom prst="roundRect">
            <a:avLst>
              <a:gd name="adj" fmla="val 7447"/>
            </a:avLst>
          </a:prstGeom>
          <a:solidFill>
            <a:srgbClr val="1B252A"/>
          </a:solidFill>
          <a:ln w="10160">
            <a:solidFill>
              <a:srgbClr val="405036"/>
            </a:solidFill>
            <a:prstDash val="solid"/>
          </a:ln>
        </p:spPr>
      </p:sp>
      <p:sp>
        <p:nvSpPr>
          <p:cNvPr id="657" name="Text 655"/>
          <p:cNvSpPr/>
          <p:nvPr/>
        </p:nvSpPr>
        <p:spPr>
          <a:xfrm>
            <a:off x="941832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4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670" dirty="0"/>
          </a:p>
        </p:txBody>
      </p:sp>
      <p:sp>
        <p:nvSpPr>
          <p:cNvPr id="658" name="Text 656"/>
          <p:cNvSpPr/>
          <p:nvPr/>
        </p:nvSpPr>
        <p:spPr>
          <a:xfrm>
            <a:off x="2139696" y="28986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Cloudflare Worker</a:t>
            </a:r>
            <a:endParaRPr lang="en-US" sz="1220" dirty="0"/>
          </a:p>
        </p:txBody>
      </p:sp>
      <p:sp>
        <p:nvSpPr>
          <p:cNvPr id="659" name="Text 657"/>
          <p:cNvSpPr/>
          <p:nvPr/>
        </p:nvSpPr>
        <p:spPr>
          <a:xfrm>
            <a:off x="4718304" y="29352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认证与权限 · 状态机 · 派发与回调 · CORS · 链上回执校验</a:t>
            </a:r>
            <a:endParaRPr lang="en-US" sz="850" dirty="0"/>
          </a:p>
        </p:txBody>
      </p:sp>
      <p:sp>
        <p:nvSpPr>
          <p:cNvPr id="660" name="Shape 658"/>
          <p:cNvSpPr/>
          <p:nvPr/>
        </p:nvSpPr>
        <p:spPr>
          <a:xfrm>
            <a:off x="4480560" y="3630168"/>
            <a:ext cx="0" cy="228600"/>
          </a:xfrm>
          <a:prstGeom prst="line">
            <a:avLst/>
          </a:prstGeom>
          <a:noFill/>
          <a:ln w="15240">
            <a:solidFill>
              <a:srgbClr val="C4F35A"/>
            </a:solidFill>
            <a:prstDash val="solid"/>
            <a:tailEnd type="triangle"/>
          </a:ln>
        </p:spPr>
      </p:sp>
      <p:sp>
        <p:nvSpPr>
          <p:cNvPr id="661" name="Shape 659"/>
          <p:cNvSpPr/>
          <p:nvPr/>
        </p:nvSpPr>
        <p:spPr>
          <a:xfrm>
            <a:off x="713232" y="3858768"/>
            <a:ext cx="7543800" cy="859536"/>
          </a:xfrm>
          <a:prstGeom prst="roundRect">
            <a:avLst>
              <a:gd name="adj" fmla="val 7447"/>
            </a:avLst>
          </a:prstGeom>
          <a:solidFill>
            <a:srgbClr val="172129"/>
          </a:solidFill>
          <a:ln w="10160">
            <a:solidFill>
              <a:srgbClr val="2E444C"/>
            </a:solidFill>
            <a:prstDash val="solid"/>
          </a:ln>
        </p:spPr>
      </p:sp>
      <p:sp>
        <p:nvSpPr>
          <p:cNvPr id="662" name="Text 660"/>
          <p:cNvSpPr/>
          <p:nvPr/>
        </p:nvSpPr>
        <p:spPr>
          <a:xfrm>
            <a:off x="941832" y="40416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4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670" dirty="0"/>
          </a:p>
        </p:txBody>
      </p:sp>
      <p:sp>
        <p:nvSpPr>
          <p:cNvPr id="663" name="Text 661"/>
          <p:cNvSpPr/>
          <p:nvPr/>
        </p:nvSpPr>
        <p:spPr>
          <a:xfrm>
            <a:off x="2139696" y="3995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LangGraph + PinMe LLM</a:t>
            </a:r>
            <a:endParaRPr lang="en-US" sz="1220" dirty="0"/>
          </a:p>
        </p:txBody>
      </p:sp>
      <p:sp>
        <p:nvSpPr>
          <p:cNvPr id="664" name="Text 662"/>
          <p:cNvSpPr/>
          <p:nvPr/>
        </p:nvSpPr>
        <p:spPr>
          <a:xfrm>
            <a:off x="4718304" y="40325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复杂度分析 · DAG 规划/校验/修复 · 官方 Agent 结构化运行时</a:t>
            </a:r>
            <a:endParaRPr lang="en-US" sz="850" dirty="0"/>
          </a:p>
        </p:txBody>
      </p:sp>
      <p:sp>
        <p:nvSpPr>
          <p:cNvPr id="665" name="Shape 663"/>
          <p:cNvSpPr/>
          <p:nvPr/>
        </p:nvSpPr>
        <p:spPr>
          <a:xfrm>
            <a:off x="4480560" y="4727448"/>
            <a:ext cx="0" cy="228600"/>
          </a:xfrm>
          <a:prstGeom prst="line">
            <a:avLst/>
          </a:prstGeom>
          <a:noFill/>
          <a:ln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66" name="Shape 664"/>
          <p:cNvSpPr/>
          <p:nvPr/>
        </p:nvSpPr>
        <p:spPr>
          <a:xfrm>
            <a:off x="713232" y="4956048"/>
            <a:ext cx="7543800" cy="859536"/>
          </a:xfrm>
          <a:prstGeom prst="roundRect">
            <a:avLst>
              <a:gd name="adj" fmla="val 7447"/>
            </a:avLst>
          </a:prstGeom>
          <a:solidFill>
            <a:srgbClr val="1B252A"/>
          </a:solidFill>
          <a:ln w="10160">
            <a:solidFill>
              <a:srgbClr val="405036"/>
            </a:solidFill>
            <a:prstDash val="solid"/>
          </a:ln>
        </p:spPr>
      </p:sp>
      <p:sp>
        <p:nvSpPr>
          <p:cNvPr id="667" name="Text 665"/>
          <p:cNvSpPr/>
          <p:nvPr/>
        </p:nvSpPr>
        <p:spPr>
          <a:xfrm>
            <a:off x="941832" y="51389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spc="14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670" dirty="0"/>
          </a:p>
        </p:txBody>
      </p:sp>
      <p:sp>
        <p:nvSpPr>
          <p:cNvPr id="668" name="Text 666"/>
          <p:cNvSpPr/>
          <p:nvPr/>
        </p:nvSpPr>
        <p:spPr>
          <a:xfrm>
            <a:off x="2139696" y="50932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D1 + PinMe/IPFS + Sepolia</a:t>
            </a:r>
            <a:endParaRPr lang="en-US" sz="1220" dirty="0"/>
          </a:p>
        </p:txBody>
      </p:sp>
      <p:sp>
        <p:nvSpPr>
          <p:cNvPr id="669" name="Text 667"/>
          <p:cNvSpPr/>
          <p:nvPr/>
        </p:nvSpPr>
        <p:spPr>
          <a:xfrm>
            <a:off x="4718304" y="51297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任务/事件/证据账本 · CID/Manifest · Escrow · PM Reward · Power</a:t>
            </a:r>
            <a:endParaRPr lang="en-US" sz="850" dirty="0"/>
          </a:p>
        </p:txBody>
      </p:sp>
      <p:sp>
        <p:nvSpPr>
          <p:cNvPr id="670" name="Shape 668"/>
          <p:cNvSpPr/>
          <p:nvPr/>
        </p:nvSpPr>
        <p:spPr>
          <a:xfrm>
            <a:off x="8622792" y="1664208"/>
            <a:ext cx="2852928" cy="1152144"/>
          </a:xfrm>
          <a:prstGeom prst="roundRect">
            <a:avLst>
              <a:gd name="adj" fmla="val 6349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8823960" y="186537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23126"/>
          </a:solidFill>
          <a:ln w="12700">
            <a:solidFill>
              <a:srgbClr val="223126"/>
            </a:solidFill>
            <a:prstDash val="solid"/>
          </a:ln>
        </p:spPr>
      </p:sp>
      <p:sp>
        <p:nvSpPr>
          <p:cNvPr id="672" name="Text 670"/>
          <p:cNvSpPr/>
          <p:nvPr/>
        </p:nvSpPr>
        <p:spPr>
          <a:xfrm>
            <a:off x="8823960" y="195224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740" dirty="0"/>
          </a:p>
        </p:txBody>
      </p:sp>
      <p:sp>
        <p:nvSpPr>
          <p:cNvPr id="673" name="Text 671"/>
          <p:cNvSpPr/>
          <p:nvPr/>
        </p:nvSpPr>
        <p:spPr>
          <a:xfrm>
            <a:off x="9372600" y="18745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部署边界</a:t>
            </a:r>
            <a:endParaRPr lang="en-US" sz="1300" dirty="0"/>
          </a:p>
        </p:txBody>
      </p:sp>
      <p:sp>
        <p:nvSpPr>
          <p:cNvPr id="674" name="Text 672"/>
          <p:cNvSpPr/>
          <p:nvPr/>
        </p:nvSpPr>
        <p:spPr>
          <a:xfrm>
            <a:off x="8842248" y="230428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Web：IPFS CID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API：PinMe Worker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数据：D1 Migrations</a:t>
            </a:r>
            <a:endParaRPr lang="en-US" sz="920" dirty="0"/>
          </a:p>
        </p:txBody>
      </p:sp>
      <p:sp>
        <p:nvSpPr>
          <p:cNvPr id="675" name="Shape 673"/>
          <p:cNvSpPr/>
          <p:nvPr/>
        </p:nvSpPr>
        <p:spPr>
          <a:xfrm>
            <a:off x="8622792" y="3017520"/>
            <a:ext cx="2852928" cy="1152144"/>
          </a:xfrm>
          <a:prstGeom prst="roundRect">
            <a:avLst>
              <a:gd name="adj" fmla="val 6349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8823960" y="32186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9333A"/>
          </a:solidFill>
          <a:ln w="12700">
            <a:solidFill>
              <a:srgbClr val="19333A"/>
            </a:solidFill>
            <a:prstDash val="solid"/>
          </a:ln>
        </p:spPr>
      </p:sp>
      <p:sp>
        <p:nvSpPr>
          <p:cNvPr id="677" name="Text 675"/>
          <p:cNvSpPr/>
          <p:nvPr/>
        </p:nvSpPr>
        <p:spPr>
          <a:xfrm>
            <a:off x="8823960" y="330555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40" dirty="0"/>
          </a:p>
        </p:txBody>
      </p:sp>
      <p:sp>
        <p:nvSpPr>
          <p:cNvPr id="678" name="Text 676"/>
          <p:cNvSpPr/>
          <p:nvPr/>
        </p:nvSpPr>
        <p:spPr>
          <a:xfrm>
            <a:off x="9372600" y="32278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密钥边界</a:t>
            </a:r>
            <a:endParaRPr lang="en-US" sz="1300" dirty="0"/>
          </a:p>
        </p:txBody>
      </p:sp>
      <p:sp>
        <p:nvSpPr>
          <p:cNvPr id="679" name="Text 677"/>
          <p:cNvSpPr/>
          <p:nvPr/>
        </p:nvSpPr>
        <p:spPr>
          <a:xfrm>
            <a:off x="8842248" y="365760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用户钱包自行签名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AppKey 只在上传者 CLI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Endpoint 凭据只在 Secret</a:t>
            </a:r>
            <a:endParaRPr lang="en-US" sz="920" dirty="0"/>
          </a:p>
        </p:txBody>
      </p:sp>
      <p:sp>
        <p:nvSpPr>
          <p:cNvPr id="680" name="Shape 678"/>
          <p:cNvSpPr/>
          <p:nvPr/>
        </p:nvSpPr>
        <p:spPr>
          <a:xfrm>
            <a:off x="8622792" y="4370832"/>
            <a:ext cx="2852928" cy="1152144"/>
          </a:xfrm>
          <a:prstGeom prst="roundRect">
            <a:avLst>
              <a:gd name="adj" fmla="val 6349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8823960" y="457200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3A2D19"/>
          </a:solidFill>
          <a:ln w="12700">
            <a:solidFill>
              <a:srgbClr val="3A2D19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8823960" y="46588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3BC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40" dirty="0"/>
          </a:p>
        </p:txBody>
      </p:sp>
      <p:sp>
        <p:nvSpPr>
          <p:cNvPr id="683" name="Text 681"/>
          <p:cNvSpPr/>
          <p:nvPr/>
        </p:nvSpPr>
        <p:spPr>
          <a:xfrm>
            <a:off x="9372600" y="458114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失败边界</a:t>
            </a:r>
            <a:endParaRPr lang="en-US" sz="1300" dirty="0"/>
          </a:p>
        </p:txBody>
      </p:sp>
      <p:sp>
        <p:nvSpPr>
          <p:cNvPr id="684" name="Text 682"/>
          <p:cNvSpPr/>
          <p:nvPr/>
        </p:nvSpPr>
        <p:spPr>
          <a:xfrm>
            <a:off x="8842248" y="50109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LLM 显式降级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SSE 降级轮询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Gateway 验证 fail closed</a:t>
            </a:r>
            <a:endParaRPr lang="en-US" sz="920" dirty="0"/>
          </a:p>
        </p:txBody>
      </p:sp>
      <p:sp>
        <p:nvSpPr>
          <p:cNvPr id="685" name="Text 683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9AA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686" name="Text 684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AGENT MARKET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市场展示的是可验证能力，不只是模型名称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Trial、Endpoint 健康、履约结果与结构化反馈都有明确数据来源。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7004304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D8DFD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1000"/>
              </a:srgbClr>
            </a:outerShdw>
          </a:effectLst>
        </p:spPr>
      </p:sp>
      <p:pic>
        <p:nvPicPr>
          <p:cNvPr id="6" name="Image 0" descr="已部署的 Agent 市场页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81912"/>
            <a:ext cx="6858000" cy="4288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91272" y="1508760"/>
            <a:ext cx="3639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CFE3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2440" y="170992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7F8FB"/>
          </a:solidFill>
          <a:ln w="12700">
            <a:solidFill>
              <a:srgbClr val="E7F8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7967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8641080" y="171907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 Trial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10728" y="2167128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随机挑战验证 Endpoint 协议、响应结构、时延与稳定性。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891272" y="2816352"/>
            <a:ext cx="3639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AE6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2440" y="301752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1FAD8"/>
          </a:solidFill>
          <a:ln w="12700">
            <a:solidFill>
              <a:srgbClr val="F1FA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2440" y="310438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41080" y="302666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履约信誉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10728" y="347472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首次有效 done / failed 进入统计，重放和迟到终态不重复计数。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891272" y="4123944"/>
            <a:ext cx="3639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CD8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432511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BF2DF"/>
          </a:solidFill>
          <a:ln w="12700">
            <a:solidFill>
              <a:srgbClr val="FBF2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441198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8641080" y="433425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质量门禁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10728" y="4782312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支持 shadow 与 enforce、风险事件、管理员校正和可审计状态。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891272" y="5440680"/>
            <a:ext cx="3639312" cy="448056"/>
          </a:xfrm>
          <a:prstGeom prst="roundRect">
            <a:avLst>
              <a:gd name="adj" fmla="val 10204"/>
            </a:avLst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65008" y="559612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4F3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不伪造可用率 · 无数据就显示 0 / 未检查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7C8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25" name="Text 22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3D DIGITAL TWIN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 像员工一样工作，而不是一排静态卡片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把真实任务与质量状态映射成可交互的空间行为。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90472"/>
            <a:ext cx="7370064" cy="4617720"/>
          </a:xfrm>
          <a:prstGeom prst="roundRect">
            <a:avLst>
              <a:gd name="adj" fmla="val 1980"/>
            </a:avLst>
          </a:prstGeom>
          <a:solidFill>
            <a:srgbClr val="F4F7F2"/>
          </a:solidFill>
          <a:ln w="12700">
            <a:solidFill>
              <a:srgbClr val="D8DFD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Nouns 风格 3D Agent 数字孪生指挥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63624"/>
            <a:ext cx="7223760" cy="45354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47888" y="1572768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E7F8FB"/>
          </a:solidFill>
          <a:ln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30768" y="1773936"/>
            <a:ext cx="201168" cy="201168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59952" y="17099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执行中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46920" y="1728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工位操作 / 任务进度</a:t>
            </a:r>
            <a:endParaRPr lang="en-US" sz="810" dirty="0"/>
          </a:p>
        </p:txBody>
      </p:sp>
      <p:sp>
        <p:nvSpPr>
          <p:cNvPr id="11" name="Shape 8"/>
          <p:cNvSpPr/>
          <p:nvPr/>
        </p:nvSpPr>
        <p:spPr>
          <a:xfrm>
            <a:off x="8247888" y="2377440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BF2DF"/>
          </a:solidFill>
          <a:ln w="10160">
            <a:solidFill>
              <a:srgbClr val="D99A2B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30768" y="2578608"/>
            <a:ext cx="201168" cy="20116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59952" y="25146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等待接单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46920" y="25328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任务台讲解 / 邀请状态</a:t>
            </a:r>
            <a:endParaRPr lang="en-US" sz="810" dirty="0"/>
          </a:p>
        </p:txBody>
      </p:sp>
      <p:sp>
        <p:nvSpPr>
          <p:cNvPr id="15" name="Shape 12"/>
          <p:cNvSpPr/>
          <p:nvPr/>
        </p:nvSpPr>
        <p:spPr>
          <a:xfrm>
            <a:off x="8247888" y="3182112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1FAD8"/>
          </a:solidFill>
          <a:ln w="10160">
            <a:solidFill>
              <a:srgbClr val="C4F35A">
                <a:alpha val="4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30768" y="3383280"/>
            <a:ext cx="201168" cy="201168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59952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在线待命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46920" y="3337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休息区 / 挥手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8247888" y="3986784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E7F8FB"/>
          </a:solidFill>
          <a:ln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30768" y="4187952"/>
            <a:ext cx="201168" cy="201168"/>
          </a:xfrm>
          <a:prstGeom prst="ellipse">
            <a:avLst/>
          </a:prstGeom>
          <a:solidFill>
            <a:srgbClr val="08AAC4"/>
          </a:solidFill>
          <a:ln w="12700">
            <a:solidFill>
              <a:srgbClr val="08AA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59952" y="41239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试炼中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646920" y="41422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训练区 / 挑战动作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8247888" y="4791456"/>
            <a:ext cx="3246120" cy="640080"/>
          </a:xfrm>
          <a:prstGeom prst="roundRect">
            <a:avLst>
              <a:gd name="adj" fmla="val 7143"/>
            </a:avLst>
          </a:prstGeom>
          <a:solidFill>
            <a:srgbClr val="FBEAEA"/>
          </a:solidFill>
          <a:ln w="10160">
            <a:solidFill>
              <a:srgbClr val="D94F4F">
                <a:alpha val="4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30768" y="4992624"/>
            <a:ext cx="201168" cy="201168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59952" y="49286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需要检查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646920" y="49469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维修区 / 检修道具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8247888" y="5596128"/>
            <a:ext cx="3246120" cy="512064"/>
          </a:xfrm>
          <a:prstGeom prst="roundRect">
            <a:avLst>
              <a:gd name="adj" fmla="val 8929"/>
            </a:avLst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30768" y="576986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C4F35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角色选择 · 镜头聚焦 · 自动巡航 · WebGL 降级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7C8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30" name="Text 27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498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98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98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98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98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498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498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498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498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498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98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498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98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98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498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6245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6245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6245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6245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6245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6245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6245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6245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6245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6245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6245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6245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6245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6245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6245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6245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6245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6245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6245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09928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09928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09928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09928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09928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09928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09928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9928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09928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09928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09928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09928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709928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09928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09928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09928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09928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09928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09928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5740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5740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5740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05740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5740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5740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5740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5740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5740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05740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5740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05740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5740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5740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5740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5740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05740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05740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0487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40487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0487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0487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40487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40487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0487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40487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0487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0487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40487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0487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0487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40487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0487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40487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40487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40487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0487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75234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5234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234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5234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5234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5234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5234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234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75234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234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5234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5234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234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5234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5234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5234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5234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5234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5234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9981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9981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09981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9981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9981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09981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09981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9981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09981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09981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09981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09981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09981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09981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09981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09981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09981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09981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09981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47288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447288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447288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447288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447288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447288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47288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447288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447288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447288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447288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447288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447288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47288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447288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447288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447288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447288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47288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79476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79476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79476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9476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79476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79476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79476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79476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79476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9476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79476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79476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79476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79476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79476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79476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79476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79476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79476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14223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14223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14223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14223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14223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14223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14223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14223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14223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14223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14223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4223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14223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14223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14223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14223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14223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14223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14223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48970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48970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48970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48970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48970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48970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48970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48970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48970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48970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48970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48970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48970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48970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48970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48970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48970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48970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48970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83717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3717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83717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83717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83717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3717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83717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83717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83717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83717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83717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83717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83717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83717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83717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83717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83717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83717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83717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184648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184648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184648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184648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184648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184648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184648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184648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184648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184648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184648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184648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184648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184648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184648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184648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184648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184648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184648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53212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53212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53212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53212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553212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53212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53212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53212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53212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53212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53212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53212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53212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53212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53212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53212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53212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3212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53212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87959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87959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87959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7959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87959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87959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7959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87959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87959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87959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87959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87959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87959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87959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87959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587959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87959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87959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87959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22706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22706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22706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22706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22706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22706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22706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22706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22706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22706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22706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22706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22706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22706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22706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22706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22706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22706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22706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57453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57453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57453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57453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57453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57453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57453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57453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7453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7453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7453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7453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7453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7453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57453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57453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57453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57453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57453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922008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922008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922008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922008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922008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922008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922008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922008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922008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922008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922008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922008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922008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922008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922008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22008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922008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6922008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922008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26948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26948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26948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26948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26948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26948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26948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26948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26948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26948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26948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26948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26948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726948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26948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26948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26948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26948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6948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61695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1695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61695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61695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61695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61695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61695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61695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761695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61695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61695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61695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761695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61695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61695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61695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61695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61695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61695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96442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96442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796442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796442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796442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796442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96442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96442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796442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796442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796442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796442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796442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796442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796442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796442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796442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96442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796442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31189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31189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31189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31189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31189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31189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31189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31189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31189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31189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31189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31189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31189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831189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31189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31189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31189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31189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31189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8659368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659368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659368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659368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659368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659368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659368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659368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659368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659368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659368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659368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659368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659368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659368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659368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659368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659368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659368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00684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00684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00684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900684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00684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900684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00684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00684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00684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00684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900684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900684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900684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900684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900684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900684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900684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900684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900684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935431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935431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935431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35431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35431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35431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35431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35431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35431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35431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35431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35431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35431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935431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35431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35431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935431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935431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935431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970178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70178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70178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70178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970178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970178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70178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970178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970178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970178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970178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970178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970178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970178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970178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70178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70178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970178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970178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004925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004925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004925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004925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004925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004925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04925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04925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004925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004925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004925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004925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004925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004925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004925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004925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004925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004925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004925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0396728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0396728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0396728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0396728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0396728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0396728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10396728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0396728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10396728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0396728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0396728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0396728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0396728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0396728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0396728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0396728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0396728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0396728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0396728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0744200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0744200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0744200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0744200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0744200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0744200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0744200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0744200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0744200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0744200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0744200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0744200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0744200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0744200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0744200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10744200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10744200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0744200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0744200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11091672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1091672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1091672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1091672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1091672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1091672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1091672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1091672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1091672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1091672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1091672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11091672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11091672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11091672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11091672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1091672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1091672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1091672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1091672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1439144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1439144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1439144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1439144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1439144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1439144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1439144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1439144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1439144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1439144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1439144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1439144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1439144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11439144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439144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1439144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439144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1439144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1439144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1786616" y="27432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11786616" y="62179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11786616" y="96926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11786616" y="131673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11786616" y="166420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11786616" y="201168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11786616" y="235915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11786616" y="270662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1786616" y="305409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1786616" y="340156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1786616" y="374904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1786616" y="409651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1786616" y="444398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1786616" y="479145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1786616" y="5138928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1786616" y="5486400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1786616" y="5833872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1786616" y="6181344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1786616" y="6528816"/>
            <a:ext cx="16459" cy="16459"/>
          </a:xfrm>
          <a:prstGeom prst="ellipse">
            <a:avLst/>
          </a:prstGeom>
          <a:solidFill>
            <a:srgbClr val="C4F35A">
              <a:alpha val="8000"/>
            </a:srgbClr>
          </a:solidFill>
          <a:ln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8" name="Text 646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VERIFIABLE DELIVERY</a:t>
            </a:r>
            <a:endParaRPr lang="en-US" sz="750" dirty="0"/>
          </a:p>
        </p:txBody>
      </p:sp>
      <p:sp>
        <p:nvSpPr>
          <p:cNvPr id="649" name="Text 647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PinMe/IPFS 把“交付文件”升级为“不可覆盖的版本证据”</a:t>
            </a:r>
            <a:endParaRPr lang="en-US" sz="2700" dirty="0"/>
          </a:p>
        </p:txBody>
      </p:sp>
      <p:sp>
        <p:nvSpPr>
          <p:cNvPr id="650" name="Text 648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域名方便访问，CID 与哈希负责核对；验收和纠纷都能回到同一份内容。</a:t>
            </a:r>
            <a:endParaRPr lang="en-US" sz="1050" dirty="0"/>
          </a:p>
        </p:txBody>
      </p:sp>
      <p:sp>
        <p:nvSpPr>
          <p:cNvPr id="651" name="Shape 649"/>
          <p:cNvSpPr/>
          <p:nvPr/>
        </p:nvSpPr>
        <p:spPr>
          <a:xfrm>
            <a:off x="749808" y="182880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19333A"/>
          </a:solidFill>
          <a:ln w="13970">
            <a:solidFill>
              <a:srgbClr val="39D7E7">
                <a:alpha val="65000"/>
              </a:srgbClr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8000"/>
              </a:srgbClr>
            </a:outerShdw>
          </a:effectLst>
        </p:spPr>
      </p:sp>
      <p:sp>
        <p:nvSpPr>
          <p:cNvPr id="652" name="Shape 650"/>
          <p:cNvSpPr/>
          <p:nvPr/>
        </p:nvSpPr>
        <p:spPr>
          <a:xfrm>
            <a:off x="950976" y="2029968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39D7E7"/>
          </a:solidFill>
          <a:ln w="8890">
            <a:solidFill>
              <a:srgbClr val="39D7E7"/>
            </a:solidFill>
            <a:prstDash val="solid"/>
          </a:ln>
        </p:spPr>
      </p:sp>
      <p:sp>
        <p:nvSpPr>
          <p:cNvPr id="653" name="Text 651"/>
          <p:cNvSpPr/>
          <p:nvPr/>
        </p:nvSpPr>
        <p:spPr>
          <a:xfrm>
            <a:off x="1014984" y="20802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700" dirty="0"/>
          </a:p>
        </p:txBody>
      </p:sp>
      <p:sp>
        <p:nvSpPr>
          <p:cNvPr id="654" name="Text 652"/>
          <p:cNvSpPr/>
          <p:nvPr/>
        </p:nvSpPr>
        <p:spPr>
          <a:xfrm>
            <a:off x="950976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首次交付</a:t>
            </a:r>
            <a:endParaRPr lang="en-US" sz="1300" dirty="0"/>
          </a:p>
        </p:txBody>
      </p:sp>
      <p:sp>
        <p:nvSpPr>
          <p:cNvPr id="655" name="Text 653"/>
          <p:cNvSpPr/>
          <p:nvPr/>
        </p:nvSpPr>
        <p:spPr>
          <a:xfrm>
            <a:off x="950976" y="3017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bafy…a13f</a:t>
            </a:r>
            <a:endParaRPr lang="en-US" sz="850" dirty="0"/>
          </a:p>
        </p:txBody>
      </p:sp>
      <p:sp>
        <p:nvSpPr>
          <p:cNvPr id="656" name="Text 654"/>
          <p:cNvSpPr/>
          <p:nvPr/>
        </p:nvSpPr>
        <p:spPr>
          <a:xfrm>
            <a:off x="950976" y="34015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Manifest SHA-256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逐文件 SHA-256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父版本 + attempt</a:t>
            </a:r>
            <a:endParaRPr lang="en-US" sz="820" dirty="0"/>
          </a:p>
        </p:txBody>
      </p:sp>
      <p:sp>
        <p:nvSpPr>
          <p:cNvPr id="657" name="Shape 655"/>
          <p:cNvSpPr/>
          <p:nvPr/>
        </p:nvSpPr>
        <p:spPr>
          <a:xfrm>
            <a:off x="2898648" y="2953512"/>
            <a:ext cx="841248" cy="0"/>
          </a:xfrm>
          <a:prstGeom prst="line">
            <a:avLst/>
          </a:prstGeom>
          <a:noFill/>
          <a:ln w="19050">
            <a:solidFill>
              <a:srgbClr val="39D7E7"/>
            </a:solidFill>
            <a:prstDash val="solid"/>
            <a:headEnd type="none"/>
            <a:tailEnd type="triangle"/>
          </a:ln>
        </p:spPr>
      </p:sp>
      <p:sp>
        <p:nvSpPr>
          <p:cNvPr id="658" name="Shape 656"/>
          <p:cNvSpPr/>
          <p:nvPr/>
        </p:nvSpPr>
        <p:spPr>
          <a:xfrm>
            <a:off x="3310128" y="182880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223126"/>
          </a:solidFill>
          <a:ln w="13970">
            <a:solidFill>
              <a:srgbClr val="C4F35A">
                <a:alpha val="65000"/>
              </a:srgbClr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8000"/>
              </a:srgbClr>
            </a:outerShdw>
          </a:effectLst>
        </p:spPr>
      </p:sp>
      <p:sp>
        <p:nvSpPr>
          <p:cNvPr id="659" name="Shape 657"/>
          <p:cNvSpPr/>
          <p:nvPr/>
        </p:nvSpPr>
        <p:spPr>
          <a:xfrm>
            <a:off x="3511296" y="2029968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C4F35A"/>
          </a:solidFill>
          <a:ln w="8890">
            <a:solidFill>
              <a:srgbClr val="C4F35A"/>
            </a:solidFill>
            <a:prstDash val="solid"/>
          </a:ln>
        </p:spPr>
      </p:sp>
      <p:sp>
        <p:nvSpPr>
          <p:cNvPr id="660" name="Text 658"/>
          <p:cNvSpPr/>
          <p:nvPr/>
        </p:nvSpPr>
        <p:spPr>
          <a:xfrm>
            <a:off x="3575304" y="20802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700" dirty="0"/>
          </a:p>
        </p:txBody>
      </p:sp>
      <p:sp>
        <p:nvSpPr>
          <p:cNvPr id="661" name="Text 659"/>
          <p:cNvSpPr/>
          <p:nvPr/>
        </p:nvSpPr>
        <p:spPr>
          <a:xfrm>
            <a:off x="3511296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返工版本</a:t>
            </a:r>
            <a:endParaRPr lang="en-US" sz="1300" dirty="0"/>
          </a:p>
        </p:txBody>
      </p:sp>
      <p:sp>
        <p:nvSpPr>
          <p:cNvPr id="662" name="Text 660"/>
          <p:cNvSpPr/>
          <p:nvPr/>
        </p:nvSpPr>
        <p:spPr>
          <a:xfrm>
            <a:off x="3511296" y="3017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bafy…c8d2</a:t>
            </a:r>
            <a:endParaRPr lang="en-US" sz="850" dirty="0"/>
          </a:p>
        </p:txBody>
      </p:sp>
      <p:sp>
        <p:nvSpPr>
          <p:cNvPr id="663" name="Text 661"/>
          <p:cNvSpPr/>
          <p:nvPr/>
        </p:nvSpPr>
        <p:spPr>
          <a:xfrm>
            <a:off x="3511296" y="34015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Manifest SHA-256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逐文件 SHA-256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父版本 + attempt</a:t>
            </a:r>
            <a:endParaRPr lang="en-US" sz="820" dirty="0"/>
          </a:p>
        </p:txBody>
      </p:sp>
      <p:sp>
        <p:nvSpPr>
          <p:cNvPr id="664" name="Shape 662"/>
          <p:cNvSpPr/>
          <p:nvPr/>
        </p:nvSpPr>
        <p:spPr>
          <a:xfrm>
            <a:off x="5458968" y="2953512"/>
            <a:ext cx="841248" cy="0"/>
          </a:xfrm>
          <a:prstGeom prst="line">
            <a:avLst/>
          </a:prstGeom>
          <a:noFill/>
          <a:ln w="19050">
            <a:solidFill>
              <a:srgbClr val="C4F35A"/>
            </a:solidFill>
            <a:prstDash val="solid"/>
            <a:headEnd type="none"/>
            <a:tailEnd type="triangle"/>
          </a:ln>
        </p:spPr>
      </p:sp>
      <p:sp>
        <p:nvSpPr>
          <p:cNvPr id="665" name="Shape 663"/>
          <p:cNvSpPr/>
          <p:nvPr/>
        </p:nvSpPr>
        <p:spPr>
          <a:xfrm>
            <a:off x="5870448" y="182880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19333A"/>
          </a:solidFill>
          <a:ln w="13970">
            <a:solidFill>
              <a:srgbClr val="39D7E7">
                <a:alpha val="65000"/>
              </a:srgbClr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8000"/>
              </a:srgbClr>
            </a:outerShdw>
          </a:effectLst>
        </p:spPr>
      </p:sp>
      <p:sp>
        <p:nvSpPr>
          <p:cNvPr id="666" name="Shape 664"/>
          <p:cNvSpPr/>
          <p:nvPr/>
        </p:nvSpPr>
        <p:spPr>
          <a:xfrm>
            <a:off x="6071616" y="2029968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39D7E7"/>
          </a:solidFill>
          <a:ln w="8890">
            <a:solidFill>
              <a:srgbClr val="39D7E7"/>
            </a:solidFill>
            <a:prstDash val="solid"/>
          </a:ln>
        </p:spPr>
      </p:sp>
      <p:sp>
        <p:nvSpPr>
          <p:cNvPr id="667" name="Text 665"/>
          <p:cNvSpPr/>
          <p:nvPr/>
        </p:nvSpPr>
        <p:spPr>
          <a:xfrm>
            <a:off x="6135624" y="20802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700" dirty="0"/>
          </a:p>
        </p:txBody>
      </p:sp>
      <p:sp>
        <p:nvSpPr>
          <p:cNvPr id="668" name="Text 666"/>
          <p:cNvSpPr/>
          <p:nvPr/>
        </p:nvSpPr>
        <p:spPr>
          <a:xfrm>
            <a:off x="6071616" y="2542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当前验收</a:t>
            </a:r>
            <a:endParaRPr lang="en-US" sz="1300" dirty="0"/>
          </a:p>
        </p:txBody>
      </p:sp>
      <p:sp>
        <p:nvSpPr>
          <p:cNvPr id="669" name="Text 667"/>
          <p:cNvSpPr/>
          <p:nvPr/>
        </p:nvSpPr>
        <p:spPr>
          <a:xfrm>
            <a:off x="6071616" y="3017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bafy…f91e</a:t>
            </a:r>
            <a:endParaRPr lang="en-US" sz="850" dirty="0"/>
          </a:p>
        </p:txBody>
      </p:sp>
      <p:sp>
        <p:nvSpPr>
          <p:cNvPr id="670" name="Text 668"/>
          <p:cNvSpPr/>
          <p:nvPr/>
        </p:nvSpPr>
        <p:spPr>
          <a:xfrm>
            <a:off x="6071616" y="34015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Manifest SHA-256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逐文件 SHA-256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AB7B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父版本 + attempt</a:t>
            </a:r>
            <a:endParaRPr lang="en-US" sz="820" dirty="0"/>
          </a:p>
        </p:txBody>
      </p:sp>
      <p:sp>
        <p:nvSpPr>
          <p:cNvPr id="671" name="Shape 669"/>
          <p:cNvSpPr/>
          <p:nvPr/>
        </p:nvSpPr>
        <p:spPr>
          <a:xfrm>
            <a:off x="8613648" y="1673352"/>
            <a:ext cx="28163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240">
            <a:solidFill>
              <a:srgbClr val="C4F35A"/>
            </a:solidFill>
            <a:prstDash val="solid"/>
          </a:ln>
        </p:spPr>
      </p:sp>
      <p:sp>
        <p:nvSpPr>
          <p:cNvPr id="672" name="Text 670"/>
          <p:cNvSpPr/>
          <p:nvPr/>
        </p:nvSpPr>
        <p:spPr>
          <a:xfrm>
            <a:off x="8887968" y="193852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spc="13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DOSSIER</a:t>
            </a:r>
            <a:endParaRPr lang="en-US" sz="710" dirty="0"/>
          </a:p>
        </p:txBody>
      </p:sp>
      <p:sp>
        <p:nvSpPr>
          <p:cNvPr id="673" name="Text 671"/>
          <p:cNvSpPr/>
          <p:nvPr/>
        </p:nvSpPr>
        <p:spPr>
          <a:xfrm>
            <a:off x="8887968" y="233172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不可变审核档案</a:t>
            </a:r>
            <a:endParaRPr lang="en-US" sz="1600" dirty="0"/>
          </a:p>
        </p:txBody>
      </p:sp>
      <p:sp>
        <p:nvSpPr>
          <p:cNvPr id="674" name="Text 672"/>
          <p:cNvSpPr/>
          <p:nvPr/>
        </p:nvSpPr>
        <p:spPr>
          <a:xfrm>
            <a:off x="8942832" y="2907792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冻结 CID、工作流版本、验收标准 hash 与事件水位；任务方、Agent 和仲裁委员核对同一快照。</a:t>
            </a:r>
            <a:endParaRPr lang="en-US" sz="910" dirty="0"/>
          </a:p>
        </p:txBody>
      </p:sp>
      <p:sp>
        <p:nvSpPr>
          <p:cNvPr id="675" name="Text 673"/>
          <p:cNvSpPr/>
          <p:nvPr/>
        </p:nvSpPr>
        <p:spPr>
          <a:xfrm>
            <a:off x="9235440" y="38862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VERIFIED</a:t>
            </a:r>
            <a:endParaRPr lang="en-US" sz="720" dirty="0"/>
          </a:p>
        </p:txBody>
      </p:sp>
      <p:sp>
        <p:nvSpPr>
          <p:cNvPr id="676" name="Shape 674"/>
          <p:cNvSpPr/>
          <p:nvPr/>
        </p:nvSpPr>
        <p:spPr>
          <a:xfrm>
            <a:off x="749808" y="4773168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77" name="Text 675"/>
          <p:cNvSpPr/>
          <p:nvPr/>
        </p:nvSpPr>
        <p:spPr>
          <a:xfrm>
            <a:off x="969264" y="49834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CLI 上传</a:t>
            </a:r>
            <a:endParaRPr lang="en-US" sz="1050" dirty="0"/>
          </a:p>
        </p:txBody>
      </p:sp>
      <p:sp>
        <p:nvSpPr>
          <p:cNvPr id="678" name="Text 676"/>
          <p:cNvSpPr/>
          <p:nvPr/>
        </p:nvSpPr>
        <p:spPr>
          <a:xfrm>
            <a:off x="969264" y="53400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9DAA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用户自己的 PinMe 登录态</a:t>
            </a:r>
            <a:endParaRPr lang="en-US" sz="810" dirty="0"/>
          </a:p>
        </p:txBody>
      </p:sp>
      <p:sp>
        <p:nvSpPr>
          <p:cNvPr id="679" name="Shape 677"/>
          <p:cNvSpPr/>
          <p:nvPr/>
        </p:nvSpPr>
        <p:spPr>
          <a:xfrm>
            <a:off x="3447288" y="4773168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80" name="Text 678"/>
          <p:cNvSpPr/>
          <p:nvPr/>
        </p:nvSpPr>
        <p:spPr>
          <a:xfrm>
            <a:off x="3666744" y="49834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平台登记</a:t>
            </a:r>
            <a:endParaRPr lang="en-US" sz="1050" dirty="0"/>
          </a:p>
        </p:txBody>
      </p:sp>
      <p:sp>
        <p:nvSpPr>
          <p:cNvPr id="681" name="Text 679"/>
          <p:cNvSpPr/>
          <p:nvPr/>
        </p:nvSpPr>
        <p:spPr>
          <a:xfrm>
            <a:off x="3666744" y="53400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9DAA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CID / hash / 版本关系</a:t>
            </a:r>
            <a:endParaRPr lang="en-US" sz="810" dirty="0"/>
          </a:p>
        </p:txBody>
      </p:sp>
      <p:sp>
        <p:nvSpPr>
          <p:cNvPr id="682" name="Shape 680"/>
          <p:cNvSpPr/>
          <p:nvPr/>
        </p:nvSpPr>
        <p:spPr>
          <a:xfrm>
            <a:off x="6144768" y="4773168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83" name="Text 681"/>
          <p:cNvSpPr/>
          <p:nvPr/>
        </p:nvSpPr>
        <p:spPr>
          <a:xfrm>
            <a:off x="6364224" y="49834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安全边界</a:t>
            </a:r>
            <a:endParaRPr lang="en-US" sz="1050" dirty="0"/>
          </a:p>
        </p:txBody>
      </p:sp>
      <p:sp>
        <p:nvSpPr>
          <p:cNvPr id="684" name="Text 682"/>
          <p:cNvSpPr/>
          <p:nvPr/>
        </p:nvSpPr>
        <p:spPr>
          <a:xfrm>
            <a:off x="6364224" y="53400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9DAA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AppKey 与解密密钥不入前端</a:t>
            </a:r>
            <a:endParaRPr lang="en-US" sz="810" dirty="0"/>
          </a:p>
        </p:txBody>
      </p:sp>
      <p:sp>
        <p:nvSpPr>
          <p:cNvPr id="685" name="Shape 683"/>
          <p:cNvSpPr/>
          <p:nvPr/>
        </p:nvSpPr>
        <p:spPr>
          <a:xfrm>
            <a:off x="8842248" y="4773168"/>
            <a:ext cx="2395728" cy="987552"/>
          </a:xfrm>
          <a:prstGeom prst="roundRect">
            <a:avLst>
              <a:gd name="adj" fmla="val 7407"/>
            </a:avLst>
          </a:prstGeom>
          <a:solidFill>
            <a:srgbClr val="172129"/>
          </a:solidFill>
          <a:ln w="10160">
            <a:solidFill>
              <a:srgbClr val="34444A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9061704" y="498348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可见性</a:t>
            </a:r>
            <a:endParaRPr lang="en-US" sz="1050" dirty="0"/>
          </a:p>
        </p:txBody>
      </p:sp>
      <p:sp>
        <p:nvSpPr>
          <p:cNvPr id="687" name="Text 685"/>
          <p:cNvSpPr/>
          <p:nvPr/>
        </p:nvSpPr>
        <p:spPr>
          <a:xfrm>
            <a:off x="9061704" y="53400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9DAA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未加密 IPFS 默认公开</a:t>
            </a:r>
            <a:endParaRPr lang="en-US" sz="810" dirty="0"/>
          </a:p>
        </p:txBody>
      </p:sp>
      <p:sp>
        <p:nvSpPr>
          <p:cNvPr id="688" name="Text 686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9AA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689" name="Text 687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WEB3 &amp; CONTRIBUTION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原资产结算、身份可读性与贡献治理彼此解耦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钱包负责签名，ENS 负责展示，PM 负责测试网贡献与治理。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9264" y="1828800"/>
            <a:ext cx="3611880" cy="3611880"/>
          </a:xfrm>
          <a:prstGeom prst="ellipse">
            <a:avLst/>
          </a:prstGeom>
          <a:solidFill>
            <a:srgbClr val="E7F8FB">
              <a:alpha val="75000"/>
            </a:srgbClr>
          </a:solidFill>
          <a:ln w="1524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4752" y="2304288"/>
            <a:ext cx="2660904" cy="2660904"/>
          </a:xfrm>
          <a:prstGeom prst="ellipse">
            <a:avLst/>
          </a:prstGeom>
          <a:solidFill>
            <a:srgbClr val="F1FAD8">
              <a:alpha val="90000"/>
            </a:srgbClr>
          </a:solidFill>
          <a:ln w="17780">
            <a:solidFill>
              <a:srgbClr val="C4F35A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2852928"/>
            <a:ext cx="1554480" cy="1554480"/>
          </a:xfrm>
          <a:prstGeom prst="ellipse">
            <a:avLst/>
          </a:prstGeom>
          <a:solidFill>
            <a:srgbClr val="C4F35A"/>
          </a:solidFill>
          <a:ln w="15240">
            <a:solidFill>
              <a:srgbClr val="10131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327355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93392" y="367588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spc="110" kern="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580" dirty="0"/>
          </a:p>
        </p:txBody>
      </p:sp>
      <p:sp>
        <p:nvSpPr>
          <p:cNvPr id="10" name="Shape 8"/>
          <p:cNvSpPr/>
          <p:nvPr/>
        </p:nvSpPr>
        <p:spPr>
          <a:xfrm>
            <a:off x="822960" y="155448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101318"/>
          </a:solidFill>
          <a:ln w="8890">
            <a:solidFill>
              <a:srgbClr val="101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04772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mUSDC / sETH ESCROW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730752" y="178308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7F8FB"/>
          </a:solidFill>
          <a:ln w="8890">
            <a:solidFill>
              <a:srgbClr val="B7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833372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 NAME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986784" y="4736592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101318"/>
          </a:solidFill>
          <a:ln w="8890">
            <a:solidFill>
              <a:srgbClr val="101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478688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21792" y="491947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F1FAD8"/>
          </a:solidFill>
          <a:ln w="8890">
            <a:solidFill>
              <a:srgbClr val="D5E7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969764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REWARD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285232" y="1719072"/>
            <a:ext cx="281635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DED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19202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7F8FB"/>
          </a:solidFill>
          <a:ln w="12700">
            <a:solidFill>
              <a:srgbClr val="E7F8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0071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6035040" y="192938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任务原资产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CREDIT / mUSDC / sETH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366760" y="1719072"/>
            <a:ext cx="281635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DED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67928" y="19202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EF1EF"/>
          </a:solidFill>
          <a:ln w="12700">
            <a:solidFill>
              <a:srgbClr val="EEF1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67928" y="20071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9116568" y="192938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开发者收益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86216" y="24323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按资产隔离的逐笔账目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285232" y="3200400"/>
            <a:ext cx="281635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DED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340156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1FAD8"/>
          </a:solidFill>
          <a:ln w="12700">
            <a:solidFill>
              <a:srgbClr val="F1FA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48843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6035040" y="34107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PM 奖励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04688" y="3913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验收结算后的周期贡献池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366760" y="3200400"/>
            <a:ext cx="281635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7DED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67928" y="340156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FBF2DF"/>
          </a:solidFill>
          <a:ln w="12700">
            <a:solidFill>
              <a:srgbClr val="FBF2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67928" y="348843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9116568" y="341071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 Power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86216" y="39136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873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锁仓期限 × 信誉，历史快照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285232" y="4736592"/>
            <a:ext cx="5897880" cy="932688"/>
          </a:xfrm>
          <a:prstGeom prst="roundRect">
            <a:avLst>
              <a:gd name="adj" fmla="val 5882"/>
            </a:avLst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49651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SEPOLIA CONTRACTS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269480" y="492861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0xfdf0…4bae  ·  Reward 0x852c…037e  ·  Power 0x9875…a5c2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5522976" y="5285232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9CAAA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PM 是 pinme-mesh 的测试网贡献与治理品牌，不代表 PinMe 官方代币，不承诺价格或收益。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7C8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43" name="Text 41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498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98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98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498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498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498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498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498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498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98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498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98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498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498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98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498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6245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6245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6245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6245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6245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6245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6245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6245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6245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6245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6245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6245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6245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6245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6245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6245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6245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6245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6245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0992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0992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0992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0992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0992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0992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0992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992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0992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0992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0992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70992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70992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0992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0992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0992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0992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0992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0992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5740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5740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5740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05740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5740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5740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5740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5740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05740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05740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05740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05740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5740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05740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5740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05740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05740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05740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0487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40487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0487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0487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40487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40487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0487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40487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0487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40487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40487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0487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0487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40487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0487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40487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40487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40487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0487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75234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75234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234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5234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5234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5234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5234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234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75234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234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75234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5234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234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5234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5234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5234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5234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5234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5234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09981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09981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09981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9981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09981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09981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09981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09981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09981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09981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09981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09981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09981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09981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09981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09981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09981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09981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09981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4728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44728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44728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44728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44728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44728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4728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44728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44728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44728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44728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44728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44728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4728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44728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44728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44728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44728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4728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379476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79476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79476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9476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79476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79476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79476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79476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79476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79476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79476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79476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79476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79476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79476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79476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79476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79476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79476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14223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14223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14223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14223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14223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14223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14223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14223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14223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14223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14223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14223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14223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14223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14223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14223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14223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14223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14223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48970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48970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48970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48970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48970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48970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48970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48970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448970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448970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48970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48970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48970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48970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48970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48970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48970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48970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448970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83717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83717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83717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83717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83717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3717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83717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83717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83717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83717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83717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83717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83717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83717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83717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83717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83717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83717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83717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18464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18464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518464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18464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518464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518464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18464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518464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18464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518464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18464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18464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18464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18464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18464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18464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18464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18464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18464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553212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53212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53212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553212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553212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53212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53212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53212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53212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53212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53212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53212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53212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53212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53212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53212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53212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3212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53212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87959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87959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87959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7959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87959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87959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7959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87959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87959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87959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87959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87959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87959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87959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87959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587959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87959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87959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87959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22706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22706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22706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22706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22706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22706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22706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22706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22706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22706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22706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22706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22706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22706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22706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22706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22706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22706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22706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57453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57453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57453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57453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57453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57453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57453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57453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7453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7453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7453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7453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7453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7453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57453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57453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57453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57453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57453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92200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92200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92200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92200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92200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92200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92200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92200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92200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92200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92200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92200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92200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92200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92200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2200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692200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692200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692200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26948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726948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726948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726948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26948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26948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26948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26948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26948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26948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26948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26948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26948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726948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26948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26948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26948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26948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6948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61695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1695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61695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61695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61695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61695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61695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61695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761695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61695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61695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61695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761695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61695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61695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61695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61695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61695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61695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96442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96442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796442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796442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796442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796442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796442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796442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796442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796442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796442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796442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796442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796442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796442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796442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796442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96442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796442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31189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31189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831189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31189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31189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31189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31189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31189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31189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31189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31189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31189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31189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831189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31189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31189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31189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31189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31189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865936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65936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65936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65936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65936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65936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65936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65936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65936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65936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65936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65936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65936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65936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65936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65936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65936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865936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865936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00684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00684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00684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900684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00684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900684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00684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00684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00684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00684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900684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900684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900684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900684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900684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900684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900684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900684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900684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935431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935431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935431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35431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35431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35431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35431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35431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35431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35431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35431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35431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935431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935431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935431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935431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935431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935431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935431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970178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970178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70178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70178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970178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970178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70178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970178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970178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970178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970178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970178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970178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970178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970178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970178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70178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970178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970178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004925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004925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004925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004925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004925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004925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04925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04925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004925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004925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004925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004925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004925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004925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004925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004925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1004925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004925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004925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0396728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0396728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0396728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0396728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0396728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0396728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10396728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0396728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10396728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0396728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0396728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0396728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0396728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0396728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0396728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0396728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0396728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0396728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0396728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0744200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0744200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0744200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0744200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0744200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0744200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0744200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0744200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0744200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0744200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0744200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0744200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0744200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0744200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0744200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10744200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10744200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0744200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0744200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11091672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11091672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11091672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11091672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1091672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1091672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1091672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1091672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1091672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1091672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1091672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11091672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11091672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11091672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11091672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1091672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1091672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1091672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1091672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1439144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1439144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1439144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1439144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1439144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1439144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1439144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1439144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1439144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1439144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1439144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1439144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1439144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11439144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439144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1439144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439144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1439144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1439144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1786616" y="27432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11786616" y="62179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11786616" y="96926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11786616" y="131673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11786616" y="166420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11786616" y="201168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11786616" y="235915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11786616" y="270662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1786616" y="305409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1786616" y="340156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1786616" y="374904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1786616" y="409651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1786616" y="444398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1786616" y="479145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1786616" y="5138928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1786616" y="5486400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1786616" y="5833872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1786616" y="6181344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1786616" y="6528816"/>
            <a:ext cx="16459" cy="16459"/>
          </a:xfrm>
          <a:prstGeom prst="ellipse">
            <a:avLst/>
          </a:prstGeom>
          <a:solidFill>
            <a:srgbClr val="08AAC4">
              <a:alpha val="9000"/>
            </a:srgbClr>
          </a:solidFill>
          <a:ln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/>
          <p:cNvSpPr/>
          <p:nvPr/>
        </p:nvSpPr>
        <p:spPr>
          <a:xfrm>
            <a:off x="603504" y="384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1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DEMO</a:t>
            </a:r>
            <a:endParaRPr lang="en-US" sz="750" dirty="0"/>
          </a:p>
        </p:txBody>
      </p:sp>
      <p:sp>
        <p:nvSpPr>
          <p:cNvPr id="649" name="Text 647"/>
          <p:cNvSpPr/>
          <p:nvPr/>
        </p:nvSpPr>
        <p:spPr>
          <a:xfrm>
            <a:off x="585216" y="64922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现在就能演示：6 分钟走完核心亮点</a:t>
            </a:r>
            <a:endParaRPr lang="en-US" sz="2700" dirty="0"/>
          </a:p>
        </p:txBody>
      </p:sp>
      <p:sp>
        <p:nvSpPr>
          <p:cNvPr id="650" name="Text 648"/>
          <p:cNvSpPr/>
          <p:nvPr/>
        </p:nvSpPr>
        <p:spPr>
          <a:xfrm>
            <a:off x="612648" y="10881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B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建议从公开首页开始，再进入任务闭环、3D 指挥舱与交付证据。</a:t>
            </a:r>
            <a:endParaRPr lang="en-US" sz="1050" dirty="0"/>
          </a:p>
        </p:txBody>
      </p:sp>
      <p:sp>
        <p:nvSpPr>
          <p:cNvPr id="651" name="Shape 649"/>
          <p:cNvSpPr/>
          <p:nvPr/>
        </p:nvSpPr>
        <p:spPr>
          <a:xfrm>
            <a:off x="694944" y="1572768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172129"/>
          </a:solidFill>
          <a:ln w="10160">
            <a:solidFill>
              <a:srgbClr val="2A4B55"/>
            </a:solidFill>
            <a:prstDash val="solid"/>
          </a:ln>
        </p:spPr>
      </p:sp>
      <p:sp>
        <p:nvSpPr>
          <p:cNvPr id="652" name="Text 650"/>
          <p:cNvSpPr/>
          <p:nvPr/>
        </p:nvSpPr>
        <p:spPr>
          <a:xfrm>
            <a:off x="877824" y="17465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653" name="Text 651"/>
          <p:cNvSpPr/>
          <p:nvPr/>
        </p:nvSpPr>
        <p:spPr>
          <a:xfrm>
            <a:off x="1335024" y="17099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首页定位</a:t>
            </a:r>
            <a:endParaRPr lang="en-US" sz="1140" dirty="0"/>
          </a:p>
        </p:txBody>
      </p:sp>
      <p:sp>
        <p:nvSpPr>
          <p:cNvPr id="654" name="Text 652"/>
          <p:cNvSpPr/>
          <p:nvPr/>
        </p:nvSpPr>
        <p:spPr>
          <a:xfrm>
            <a:off x="877824" y="210312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4B0B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DAG → 结算 → PM → Power</a:t>
            </a:r>
            <a:endParaRPr lang="en-US" sz="790" dirty="0"/>
          </a:p>
        </p:txBody>
      </p:sp>
      <p:sp>
        <p:nvSpPr>
          <p:cNvPr id="655" name="Shape 653"/>
          <p:cNvSpPr/>
          <p:nvPr/>
        </p:nvSpPr>
        <p:spPr>
          <a:xfrm>
            <a:off x="3602736" y="1572768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1B252A"/>
          </a:solidFill>
          <a:ln w="10160">
            <a:solidFill>
              <a:srgbClr val="455037"/>
            </a:solidFill>
            <a:prstDash val="solid"/>
          </a:ln>
        </p:spPr>
      </p:sp>
      <p:sp>
        <p:nvSpPr>
          <p:cNvPr id="656" name="Text 654"/>
          <p:cNvSpPr/>
          <p:nvPr/>
        </p:nvSpPr>
        <p:spPr>
          <a:xfrm>
            <a:off x="3785616" y="17465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657" name="Text 655"/>
          <p:cNvSpPr/>
          <p:nvPr/>
        </p:nvSpPr>
        <p:spPr>
          <a:xfrm>
            <a:off x="4242816" y="17099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Agent 市场</a:t>
            </a:r>
            <a:endParaRPr lang="en-US" sz="1140" dirty="0"/>
          </a:p>
        </p:txBody>
      </p:sp>
      <p:sp>
        <p:nvSpPr>
          <p:cNvPr id="658" name="Text 656"/>
          <p:cNvSpPr/>
          <p:nvPr/>
        </p:nvSpPr>
        <p:spPr>
          <a:xfrm>
            <a:off x="3785616" y="210312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4B0B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Trial、质量与真实 Endpoint</a:t>
            </a:r>
            <a:endParaRPr lang="en-US" sz="790" dirty="0"/>
          </a:p>
        </p:txBody>
      </p:sp>
      <p:sp>
        <p:nvSpPr>
          <p:cNvPr id="659" name="Shape 657"/>
          <p:cNvSpPr/>
          <p:nvPr/>
        </p:nvSpPr>
        <p:spPr>
          <a:xfrm>
            <a:off x="694944" y="2743200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172129"/>
          </a:solidFill>
          <a:ln w="10160">
            <a:solidFill>
              <a:srgbClr val="2A4B55"/>
            </a:solidFill>
            <a:prstDash val="solid"/>
          </a:ln>
        </p:spPr>
      </p:sp>
      <p:sp>
        <p:nvSpPr>
          <p:cNvPr id="660" name="Text 658"/>
          <p:cNvSpPr/>
          <p:nvPr/>
        </p:nvSpPr>
        <p:spPr>
          <a:xfrm>
            <a:off x="877824" y="29169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661" name="Text 659"/>
          <p:cNvSpPr/>
          <p:nvPr/>
        </p:nvSpPr>
        <p:spPr>
          <a:xfrm>
            <a:off x="1335024" y="28803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任务编排</a:t>
            </a:r>
            <a:endParaRPr lang="en-US" sz="1140" dirty="0"/>
          </a:p>
        </p:txBody>
      </p:sp>
      <p:sp>
        <p:nvSpPr>
          <p:cNvPr id="662" name="Text 660"/>
          <p:cNvSpPr/>
          <p:nvPr/>
        </p:nvSpPr>
        <p:spPr>
          <a:xfrm>
            <a:off x="877824" y="327355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4B0B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并行、Join、Gate 与邀请门禁</a:t>
            </a:r>
            <a:endParaRPr lang="en-US" sz="790" dirty="0"/>
          </a:p>
        </p:txBody>
      </p:sp>
      <p:sp>
        <p:nvSpPr>
          <p:cNvPr id="663" name="Shape 661"/>
          <p:cNvSpPr/>
          <p:nvPr/>
        </p:nvSpPr>
        <p:spPr>
          <a:xfrm>
            <a:off x="3602736" y="2743200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1B252A"/>
          </a:solidFill>
          <a:ln w="10160">
            <a:solidFill>
              <a:srgbClr val="455037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3785616" y="29169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665" name="Text 663"/>
          <p:cNvSpPr/>
          <p:nvPr/>
        </p:nvSpPr>
        <p:spPr>
          <a:xfrm>
            <a:off x="4242816" y="28803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3D 指挥舱</a:t>
            </a:r>
            <a:endParaRPr lang="en-US" sz="1140" dirty="0"/>
          </a:p>
        </p:txBody>
      </p:sp>
      <p:sp>
        <p:nvSpPr>
          <p:cNvPr id="666" name="Text 664"/>
          <p:cNvSpPr/>
          <p:nvPr/>
        </p:nvSpPr>
        <p:spPr>
          <a:xfrm>
            <a:off x="3785616" y="327355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4B0B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状态映射、角色动作与镜头巡航</a:t>
            </a:r>
            <a:endParaRPr lang="en-US" sz="790" dirty="0"/>
          </a:p>
        </p:txBody>
      </p:sp>
      <p:sp>
        <p:nvSpPr>
          <p:cNvPr id="667" name="Shape 665"/>
          <p:cNvSpPr/>
          <p:nvPr/>
        </p:nvSpPr>
        <p:spPr>
          <a:xfrm>
            <a:off x="694944" y="3913632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172129"/>
          </a:solidFill>
          <a:ln w="10160">
            <a:solidFill>
              <a:srgbClr val="2A4B55"/>
            </a:solidFill>
            <a:prstDash val="solid"/>
          </a:ln>
        </p:spPr>
      </p:sp>
      <p:sp>
        <p:nvSpPr>
          <p:cNvPr id="668" name="Text 666"/>
          <p:cNvSpPr/>
          <p:nvPr/>
        </p:nvSpPr>
        <p:spPr>
          <a:xfrm>
            <a:off x="877824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669" name="Text 667"/>
          <p:cNvSpPr/>
          <p:nvPr/>
        </p:nvSpPr>
        <p:spPr>
          <a:xfrm>
            <a:off x="1335024" y="40507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交付验收</a:t>
            </a:r>
            <a:endParaRPr lang="en-US" sz="1140" dirty="0"/>
          </a:p>
        </p:txBody>
      </p:sp>
      <p:sp>
        <p:nvSpPr>
          <p:cNvPr id="670" name="Text 668"/>
          <p:cNvSpPr/>
          <p:nvPr/>
        </p:nvSpPr>
        <p:spPr>
          <a:xfrm>
            <a:off x="877824" y="444398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4B0B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CID 版本链、文件 diff、冻结档案</a:t>
            </a:r>
            <a:endParaRPr lang="en-US" sz="790" dirty="0"/>
          </a:p>
        </p:txBody>
      </p:sp>
      <p:sp>
        <p:nvSpPr>
          <p:cNvPr id="671" name="Shape 669"/>
          <p:cNvSpPr/>
          <p:nvPr/>
        </p:nvSpPr>
        <p:spPr>
          <a:xfrm>
            <a:off x="3602736" y="3913632"/>
            <a:ext cx="2615184" cy="932688"/>
          </a:xfrm>
          <a:prstGeom prst="roundRect">
            <a:avLst>
              <a:gd name="adj" fmla="val 5882"/>
            </a:avLst>
          </a:prstGeom>
          <a:solidFill>
            <a:srgbClr val="1B252A"/>
          </a:solidFill>
          <a:ln w="10160">
            <a:solidFill>
              <a:srgbClr val="455037"/>
            </a:solidFill>
            <a:prstDash val="solid"/>
          </a:ln>
        </p:spPr>
      </p:sp>
      <p:sp>
        <p:nvSpPr>
          <p:cNvPr id="672" name="Text 670"/>
          <p:cNvSpPr/>
          <p:nvPr/>
        </p:nvSpPr>
        <p:spPr>
          <a:xfrm>
            <a:off x="3785616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673" name="Text 671"/>
          <p:cNvSpPr/>
          <p:nvPr/>
        </p:nvSpPr>
        <p:spPr>
          <a:xfrm>
            <a:off x="4242816" y="40507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PM 中心</a:t>
            </a:r>
            <a:endParaRPr lang="en-US" sz="1140" dirty="0"/>
          </a:p>
        </p:txBody>
      </p:sp>
      <p:sp>
        <p:nvSpPr>
          <p:cNvPr id="674" name="Text 672"/>
          <p:cNvSpPr/>
          <p:nvPr/>
        </p:nvSpPr>
        <p:spPr>
          <a:xfrm>
            <a:off x="3785616" y="444398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4B0B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Sepolia 奖励、锁仓与治理边界</a:t>
            </a:r>
            <a:endParaRPr lang="en-US" sz="790" dirty="0"/>
          </a:p>
        </p:txBody>
      </p:sp>
      <p:sp>
        <p:nvSpPr>
          <p:cNvPr id="675" name="Shape 673"/>
          <p:cNvSpPr/>
          <p:nvPr/>
        </p:nvSpPr>
        <p:spPr>
          <a:xfrm>
            <a:off x="6693408" y="1572768"/>
            <a:ext cx="4773168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5240">
            <a:solidFill>
              <a:srgbClr val="C4F35A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22000"/>
              </a:srgbClr>
            </a:outerShdw>
          </a:effectLst>
        </p:spPr>
      </p:sp>
      <p:sp>
        <p:nvSpPr>
          <p:cNvPr id="676" name="Text 674"/>
          <p:cNvSpPr/>
          <p:nvPr/>
        </p:nvSpPr>
        <p:spPr>
          <a:xfrm>
            <a:off x="7040880" y="186537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140" kern="0" dirty="0">
                <a:solidFill>
                  <a:srgbClr val="08A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CHECK</a:t>
            </a:r>
            <a:endParaRPr lang="en-US" sz="720" dirty="0"/>
          </a:p>
        </p:txBody>
      </p:sp>
      <p:sp>
        <p:nvSpPr>
          <p:cNvPr id="677" name="Text 675"/>
          <p:cNvSpPr/>
          <p:nvPr/>
        </p:nvSpPr>
        <p:spPr>
          <a:xfrm>
            <a:off x="7040880" y="2194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演示版已验证</a:t>
            </a:r>
            <a:endParaRPr lang="en-US" sz="1800" dirty="0"/>
          </a:p>
        </p:txBody>
      </p:sp>
      <p:sp>
        <p:nvSpPr>
          <p:cNvPr id="678" name="Shape 676"/>
          <p:cNvSpPr/>
          <p:nvPr/>
        </p:nvSpPr>
        <p:spPr>
          <a:xfrm>
            <a:off x="7059168" y="2788920"/>
            <a:ext cx="219456" cy="219456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679" name="Text 677"/>
          <p:cNvSpPr/>
          <p:nvPr/>
        </p:nvSpPr>
        <p:spPr>
          <a:xfrm>
            <a:off x="7059168" y="28254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50" dirty="0"/>
          </a:p>
        </p:txBody>
      </p:sp>
      <p:sp>
        <p:nvSpPr>
          <p:cNvPr id="680" name="Text 678"/>
          <p:cNvSpPr/>
          <p:nvPr/>
        </p:nvSpPr>
        <p:spPr>
          <a:xfrm>
            <a:off x="7424928" y="277063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前端生产构建通过</a:t>
            </a:r>
            <a:endParaRPr lang="en-US" sz="920" dirty="0"/>
          </a:p>
        </p:txBody>
      </p:sp>
      <p:sp>
        <p:nvSpPr>
          <p:cNvPr id="681" name="Shape 679"/>
          <p:cNvSpPr/>
          <p:nvPr/>
        </p:nvSpPr>
        <p:spPr>
          <a:xfrm>
            <a:off x="7059168" y="3264408"/>
            <a:ext cx="219456" cy="219456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7059168" y="330098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50" dirty="0"/>
          </a:p>
        </p:txBody>
      </p:sp>
      <p:sp>
        <p:nvSpPr>
          <p:cNvPr id="683" name="Text 681"/>
          <p:cNvSpPr/>
          <p:nvPr/>
        </p:nvSpPr>
        <p:spPr>
          <a:xfrm>
            <a:off x="7424928" y="32461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3D Agent 关键浏览器流程通过</a:t>
            </a:r>
            <a:endParaRPr lang="en-US" sz="920" dirty="0"/>
          </a:p>
        </p:txBody>
      </p:sp>
      <p:sp>
        <p:nvSpPr>
          <p:cNvPr id="684" name="Shape 682"/>
          <p:cNvSpPr/>
          <p:nvPr/>
        </p:nvSpPr>
        <p:spPr>
          <a:xfrm>
            <a:off x="7059168" y="3739896"/>
            <a:ext cx="219456" cy="219456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685" name="Text 683"/>
          <p:cNvSpPr/>
          <p:nvPr/>
        </p:nvSpPr>
        <p:spPr>
          <a:xfrm>
            <a:off x="7059168" y="377647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50" dirty="0"/>
          </a:p>
        </p:txBody>
      </p:sp>
      <p:sp>
        <p:nvSpPr>
          <p:cNvPr id="686" name="Text 684"/>
          <p:cNvSpPr/>
          <p:nvPr/>
        </p:nvSpPr>
        <p:spPr>
          <a:xfrm>
            <a:off x="7424928" y="372160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mesh-pinme 两个域名 HTTP 200</a:t>
            </a:r>
            <a:endParaRPr lang="en-US" sz="920" dirty="0"/>
          </a:p>
        </p:txBody>
      </p:sp>
      <p:sp>
        <p:nvSpPr>
          <p:cNvPr id="687" name="Shape 685"/>
          <p:cNvSpPr/>
          <p:nvPr/>
        </p:nvSpPr>
        <p:spPr>
          <a:xfrm>
            <a:off x="7059168" y="4215384"/>
            <a:ext cx="219456" cy="219456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688" name="Text 686"/>
          <p:cNvSpPr/>
          <p:nvPr/>
        </p:nvSpPr>
        <p:spPr>
          <a:xfrm>
            <a:off x="7059168" y="425196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50" dirty="0"/>
          </a:p>
        </p:txBody>
      </p:sp>
      <p:sp>
        <p:nvSpPr>
          <p:cNvPr id="689" name="Text 687"/>
          <p:cNvSpPr/>
          <p:nvPr/>
        </p:nvSpPr>
        <p:spPr>
          <a:xfrm>
            <a:off x="7424928" y="419709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Worker Origin GET 200 / OPTIONS 204</a:t>
            </a:r>
            <a:endParaRPr lang="en-US" sz="920" dirty="0"/>
          </a:p>
        </p:txBody>
      </p:sp>
      <p:sp>
        <p:nvSpPr>
          <p:cNvPr id="690" name="Shape 688"/>
          <p:cNvSpPr/>
          <p:nvPr/>
        </p:nvSpPr>
        <p:spPr>
          <a:xfrm>
            <a:off x="7059168" y="4690872"/>
            <a:ext cx="219456" cy="219456"/>
          </a:xfrm>
          <a:prstGeom prst="ellipse">
            <a:avLst/>
          </a:prstGeom>
          <a:solidFill>
            <a:srgbClr val="C4F35A"/>
          </a:solidFill>
          <a:ln w="12700">
            <a:solidFill>
              <a:srgbClr val="C4F35A"/>
            </a:solidFill>
            <a:prstDash val="solid"/>
          </a:ln>
        </p:spPr>
      </p:sp>
      <p:sp>
        <p:nvSpPr>
          <p:cNvPr id="691" name="Text 689"/>
          <p:cNvSpPr/>
          <p:nvPr/>
        </p:nvSpPr>
        <p:spPr>
          <a:xfrm>
            <a:off x="7059168" y="47274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50" dirty="0"/>
          </a:p>
        </p:txBody>
      </p:sp>
      <p:sp>
        <p:nvSpPr>
          <p:cNvPr id="692" name="Text 690"/>
          <p:cNvSpPr/>
          <p:nvPr/>
        </p:nvSpPr>
        <p:spPr>
          <a:xfrm>
            <a:off x="7424928" y="467258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131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线上 3D 页面代码与本地构建哈希一致</a:t>
            </a:r>
            <a:endParaRPr lang="en-US" sz="920" dirty="0"/>
          </a:p>
        </p:txBody>
      </p:sp>
      <p:sp>
        <p:nvSpPr>
          <p:cNvPr id="693" name="Shape 691"/>
          <p:cNvSpPr/>
          <p:nvPr/>
        </p:nvSpPr>
        <p:spPr>
          <a:xfrm>
            <a:off x="7040880" y="5321808"/>
            <a:ext cx="4078224" cy="448056"/>
          </a:xfrm>
          <a:prstGeom prst="roundRect">
            <a:avLst>
              <a:gd name="adj" fmla="val 10204"/>
            </a:avLst>
          </a:prstGeom>
          <a:solidFill>
            <a:srgbClr val="101318"/>
          </a:solidFill>
          <a:ln w="12700">
            <a:solidFill>
              <a:srgbClr val="101318"/>
            </a:solidFill>
            <a:prstDash val="solid"/>
          </a:ln>
        </p:spPr>
      </p:sp>
      <p:sp>
        <p:nvSpPr>
          <p:cNvPr id="694" name="Text 692">
            <a:hlinkClick r:id="rId1" tooltip=""/>
          </p:cNvPr>
          <p:cNvSpPr/>
          <p:nvPr/>
        </p:nvSpPr>
        <p:spPr>
          <a:xfrm>
            <a:off x="7242048" y="547725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u="sng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https://mesh-pinme.pinme.dev/</a:t>
            </a:r>
            <a:endParaRPr lang="en-US" sz="860" dirty="0"/>
          </a:p>
        </p:txBody>
      </p:sp>
      <p:sp>
        <p:nvSpPr>
          <p:cNvPr id="695" name="Text 693"/>
          <p:cNvSpPr/>
          <p:nvPr/>
        </p:nvSpPr>
        <p:spPr>
          <a:xfrm>
            <a:off x="713232" y="523036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700" dirty="0"/>
          </a:p>
        </p:txBody>
      </p:sp>
      <p:sp>
        <p:nvSpPr>
          <p:cNvPr id="696" name="Shape 694"/>
          <p:cNvSpPr/>
          <p:nvPr/>
        </p:nvSpPr>
        <p:spPr>
          <a:xfrm>
            <a:off x="1353312" y="513892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223126"/>
          </a:solidFill>
          <a:ln w="8890">
            <a:solidFill>
              <a:srgbClr val="40542D"/>
            </a:solidFill>
            <a:prstDash val="solid"/>
          </a:ln>
        </p:spPr>
      </p:sp>
      <p:sp>
        <p:nvSpPr>
          <p:cNvPr id="697" name="Text 695"/>
          <p:cNvSpPr/>
          <p:nvPr/>
        </p:nvSpPr>
        <p:spPr>
          <a:xfrm>
            <a:off x="1417320" y="518922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 Gateway 校验</a:t>
            </a:r>
            <a:endParaRPr lang="en-US" sz="700" dirty="0"/>
          </a:p>
        </p:txBody>
      </p:sp>
      <p:sp>
        <p:nvSpPr>
          <p:cNvPr id="698" name="Shape 696"/>
          <p:cNvSpPr/>
          <p:nvPr/>
        </p:nvSpPr>
        <p:spPr>
          <a:xfrm>
            <a:off x="2971800" y="513892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19333A"/>
          </a:solidFill>
          <a:ln w="8890">
            <a:solidFill>
              <a:srgbClr val="2F5058"/>
            </a:solidFill>
            <a:prstDash val="solid"/>
          </a:ln>
        </p:spPr>
      </p:sp>
      <p:sp>
        <p:nvSpPr>
          <p:cNvPr id="699" name="Text 697"/>
          <p:cNvSpPr/>
          <p:nvPr/>
        </p:nvSpPr>
        <p:spPr>
          <a:xfrm>
            <a:off x="3035808" y="518922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39D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强制证据策略</a:t>
            </a:r>
            <a:endParaRPr lang="en-US" sz="700" dirty="0"/>
          </a:p>
        </p:txBody>
      </p:sp>
      <p:sp>
        <p:nvSpPr>
          <p:cNvPr id="700" name="Shape 698"/>
          <p:cNvSpPr/>
          <p:nvPr/>
        </p:nvSpPr>
        <p:spPr>
          <a:xfrm>
            <a:off x="4425696" y="513892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223126"/>
          </a:solidFill>
          <a:ln w="8890">
            <a:solidFill>
              <a:srgbClr val="40542D"/>
            </a:solidFill>
            <a:prstDash val="solid"/>
          </a:ln>
        </p:spPr>
      </p:sp>
      <p:sp>
        <p:nvSpPr>
          <p:cNvPr id="701" name="Text 699"/>
          <p:cNvSpPr/>
          <p:nvPr/>
        </p:nvSpPr>
        <p:spPr>
          <a:xfrm>
            <a:off x="4489704" y="518922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状态回放</a:t>
            </a:r>
            <a:endParaRPr lang="en-US" sz="700" dirty="0"/>
          </a:p>
        </p:txBody>
      </p:sp>
      <p:sp>
        <p:nvSpPr>
          <p:cNvPr id="702" name="Text 700"/>
          <p:cNvSpPr/>
          <p:nvPr/>
        </p:nvSpPr>
        <p:spPr>
          <a:xfrm>
            <a:off x="713232" y="58064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1A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当前仍是测试网演示版，不包含主网、真实法币、私密 IPFS 或自动代签结算。</a:t>
            </a:r>
            <a:endParaRPr lang="en-US" sz="820" dirty="0"/>
          </a:p>
        </p:txBody>
      </p:sp>
      <p:sp>
        <p:nvSpPr>
          <p:cNvPr id="703" name="Text 701"/>
          <p:cNvSpPr/>
          <p:nvPr/>
        </p:nvSpPr>
        <p:spPr>
          <a:xfrm>
            <a:off x="566928" y="6528816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spc="150" kern="0" dirty="0">
                <a:solidFill>
                  <a:srgbClr val="9AA7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pinme-mesh · PRODUCT DEMO · 2026-08-28</a:t>
            </a:r>
            <a:endParaRPr lang="en-US" sz="670" dirty="0"/>
          </a:p>
        </p:txBody>
      </p:sp>
      <p:sp>
        <p:nvSpPr>
          <p:cNvPr id="704" name="Text 702"/>
          <p:cNvSpPr/>
          <p:nvPr/>
        </p:nvSpPr>
        <p:spPr>
          <a:xfrm>
            <a:off x="11292840" y="6492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4F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pinme-mesh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pinme-mesh 产品演示</dc:title>
  <dc:subject>AI Agent orchestration, verifiable delivery and contribution governance</dc:subject>
  <dc:creator>pinme-mesh</dc:creator>
  <cp:lastModifiedBy>pinme-mesh</cp:lastModifiedBy>
  <cp:revision>1</cp:revision>
  <dcterms:created xsi:type="dcterms:W3CDTF">2026-08-28T10:14:46Z</dcterms:created>
  <dcterms:modified xsi:type="dcterms:W3CDTF">2026-08-28T10:14:46Z</dcterms:modified>
</cp:coreProperties>
</file>